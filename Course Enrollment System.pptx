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6256000" cy="9144000"/>
  <p:notesSz cx="9144000" cy="16256000"/>
  <p:embeddedFontLst>
    <p:embeddedFont>
      <p:font typeface="Quattrocento Sans" charset="-122" pitchFamily="34"/>
      <p:regular r:id="rId18"/>
    </p:embeddedFont>
    <p:embeddedFont>
      <p:font typeface="Coda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-1016000" y="-762000"/>
            <a:ext cx="4318000" cy="3556000"/>
          </a:xfrm>
          <a:prstGeom prst="ellipse">
            <a:avLst/>
          </a:prstGeom>
          <a:solidFill>
            <a:srgbClr val="6BA84B"/>
          </a:solidFill>
          <a:ln/>
        </p:spPr>
      </p:sp>
      <p:sp>
        <p:nvSpPr>
          <p:cNvPr id="3" name="Shape 1"/>
          <p:cNvSpPr/>
          <p:nvPr/>
        </p:nvSpPr>
        <p:spPr>
          <a:xfrm rot="-900000">
            <a:off x="12954000" y="6604000"/>
            <a:ext cx="4318000" cy="3556000"/>
          </a:xfrm>
          <a:prstGeom prst="ellipse">
            <a:avLst/>
          </a:prstGeom>
          <a:solidFill>
            <a:srgbClr val="6BA84B"/>
          </a:solidFill>
          <a:ln/>
        </p:spPr>
      </p:sp>
      <p:sp>
        <p:nvSpPr>
          <p:cNvPr id="4" name="Shape 2"/>
          <p:cNvSpPr/>
          <p:nvPr/>
        </p:nvSpPr>
        <p:spPr>
          <a:xfrm rot="1500000">
            <a:off x="13462000" y="-508000"/>
            <a:ext cx="3810000" cy="3048000"/>
          </a:xfrm>
          <a:prstGeom prst="ellipse">
            <a:avLst/>
          </a:prstGeom>
          <a:solidFill>
            <a:srgbClr val="E87A9A"/>
          </a:solidFill>
          <a:ln/>
        </p:spPr>
      </p:sp>
      <p:sp>
        <p:nvSpPr>
          <p:cNvPr id="5" name="Shape 3"/>
          <p:cNvSpPr/>
          <p:nvPr/>
        </p:nvSpPr>
        <p:spPr>
          <a:xfrm rot="1500000">
            <a:off x="-762000" y="6858000"/>
            <a:ext cx="3810000" cy="3048000"/>
          </a:xfrm>
          <a:prstGeom prst="ellipse">
            <a:avLst/>
          </a:prstGeom>
          <a:solidFill>
            <a:srgbClr val="E87A9A"/>
          </a:solidFill>
          <a:ln/>
        </p:spPr>
      </p:sp>
      <p:sp>
        <p:nvSpPr>
          <p:cNvPr id="6" name="Shape 4"/>
          <p:cNvSpPr/>
          <p:nvPr/>
        </p:nvSpPr>
        <p:spPr>
          <a:xfrm>
            <a:off x="12446000" y="1016000"/>
            <a:ext cx="304800" cy="3048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4D06F"/>
          </a:solidFill>
          <a:ln/>
        </p:spPr>
      </p:sp>
      <p:sp>
        <p:nvSpPr>
          <p:cNvPr id="7" name="Shape 5"/>
          <p:cNvSpPr/>
          <p:nvPr/>
        </p:nvSpPr>
        <p:spPr>
          <a:xfrm>
            <a:off x="12954000" y="1524000"/>
            <a:ext cx="203200" cy="2032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E87A9A"/>
          </a:solidFill>
          <a:ln/>
        </p:spPr>
      </p:sp>
      <p:sp>
        <p:nvSpPr>
          <p:cNvPr id="8" name="Shape 6"/>
          <p:cNvSpPr/>
          <p:nvPr/>
        </p:nvSpPr>
        <p:spPr>
          <a:xfrm>
            <a:off x="3048000" y="7366000"/>
            <a:ext cx="254000" cy="2540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4D06F"/>
          </a:solidFill>
          <a:ln/>
        </p:spPr>
      </p:sp>
      <p:sp>
        <p:nvSpPr>
          <p:cNvPr id="9" name="Shape 7"/>
          <p:cNvSpPr/>
          <p:nvPr/>
        </p:nvSpPr>
        <p:spPr>
          <a:xfrm>
            <a:off x="3556000" y="7874000"/>
            <a:ext cx="177800" cy="1778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E87A9A"/>
          </a:solidFill>
          <a:ln/>
        </p:spPr>
      </p:sp>
      <p:sp>
        <p:nvSpPr>
          <p:cNvPr id="10" name="Text 8"/>
          <p:cNvSpPr/>
          <p:nvPr/>
        </p:nvSpPr>
        <p:spPr>
          <a:xfrm>
            <a:off x="3683000" y="1587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E87A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 OOP Final Project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18000" y="2286000"/>
            <a:ext cx="7620000" cy="3810000"/>
          </a:xfrm>
          <a:prstGeom prst="roundRect">
            <a:avLst>
              <a:gd name="adj" fmla="val 12000"/>
            </a:avLst>
          </a:prstGeom>
          <a:solidFill>
            <a:srgbClr val="6BA84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540000"/>
            <a:ext cx="711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000" spc="200" kern="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Course</a:t>
            </a:r>
            <a:endParaRPr lang="en-US" sz="6000" dirty="0"/>
          </a:p>
          <a:p>
            <a:pPr algn="ctr">
              <a:lnSpc>
                <a:spcPct val="100000"/>
              </a:lnSpc>
            </a:pPr>
            <a:r>
              <a:rPr lang="en-US" sz="6000" spc="200" kern="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Enrollment</a:t>
            </a:r>
            <a:endParaRPr lang="en-US" sz="6000" dirty="0"/>
          </a:p>
          <a:p>
            <a:pPr algn="ctr">
              <a:lnSpc>
                <a:spcPct val="100000"/>
              </a:lnSpc>
            </a:pPr>
            <a:r>
              <a:rPr lang="en-US" sz="6000" spc="200" kern="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System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318000" y="6350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E87A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made by Sheishembekova Aigerim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E87A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group: COMFCI-25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3000" y="7620000"/>
            <a:ext cx="1270000" cy="457200"/>
          </a:xfrm>
          <a:prstGeom prst="roundRect">
            <a:avLst>
              <a:gd name="adj" fmla="val 50000"/>
            </a:avLst>
          </a:prstGeom>
          <a:solidFill>
            <a:srgbClr val="FDE8EF"/>
          </a:solidFill>
          <a:ln/>
        </p:spPr>
      </p:sp>
      <p:sp>
        <p:nvSpPr>
          <p:cNvPr id="15" name="Text 13"/>
          <p:cNvSpPr/>
          <p:nvPr/>
        </p:nvSpPr>
        <p:spPr>
          <a:xfrm>
            <a:off x="7493000" y="7620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-1778000" y="-1524000"/>
            <a:ext cx="2286000" cy="2032000"/>
          </a:xfrm>
          <a:prstGeom prst="ellipse">
            <a:avLst/>
          </a:prstGeom>
          <a:solidFill>
            <a:srgbClr val="6BA84B"/>
          </a:solidFill>
          <a:ln/>
        </p:spPr>
      </p:sp>
      <p:sp>
        <p:nvSpPr>
          <p:cNvPr id="3" name="Shape 1"/>
          <p:cNvSpPr/>
          <p:nvPr/>
        </p:nvSpPr>
        <p:spPr>
          <a:xfrm rot="1500000">
            <a:off x="15240000" y="7874000"/>
            <a:ext cx="1778000" cy="1778000"/>
          </a:xfrm>
          <a:prstGeom prst="ellipse">
            <a:avLst/>
          </a:prstGeom>
          <a:solidFill>
            <a:srgbClr val="E87A9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35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Table of Contents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524000" cy="0"/>
          </a:xfrm>
          <a:prstGeom prst="straightConnector1">
            <a:avLst/>
          </a:prstGeom>
          <a:noFill/>
          <a:ln w="38100">
            <a:solidFill>
              <a:srgbClr val="E87A9A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905000"/>
            <a:ext cx="6858000" cy="889000"/>
          </a:xfrm>
          <a:prstGeom prst="roundRect">
            <a:avLst>
              <a:gd name="adj" fmla="val 12000"/>
            </a:avLst>
          </a:prstGeom>
          <a:solidFill>
            <a:srgbClr val="E8F5E0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905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32000" y="1905000"/>
            <a:ext cx="533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048000"/>
            <a:ext cx="6858000" cy="889000"/>
          </a:xfrm>
          <a:prstGeom prst="roundRect">
            <a:avLst>
              <a:gd name="adj" fmla="val 12000"/>
            </a:avLst>
          </a:prstGeom>
          <a:solidFill>
            <a:srgbClr val="FDE8EF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048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32000" y="3048000"/>
            <a:ext cx="533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 &amp; Functionality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191000"/>
            <a:ext cx="6858000" cy="889000"/>
          </a:xfrm>
          <a:prstGeom prst="roundRect">
            <a:avLst>
              <a:gd name="adj" fmla="val 12000"/>
            </a:avLst>
          </a:prstGeom>
          <a:solidFill>
            <a:srgbClr val="E8F5E0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4191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32000" y="4191000"/>
            <a:ext cx="533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 &amp; OOP Concepts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36000" y="1905000"/>
            <a:ext cx="6858000" cy="889000"/>
          </a:xfrm>
          <a:prstGeom prst="roundRect">
            <a:avLst>
              <a:gd name="adj" fmla="val 12000"/>
            </a:avLst>
          </a:prstGeom>
          <a:solidFill>
            <a:srgbClr val="FDE8EF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0" y="1905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06000" y="1905000"/>
            <a:ext cx="533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&amp; Data Handling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36000" y="3048000"/>
            <a:ext cx="6858000" cy="889000"/>
          </a:xfrm>
          <a:prstGeom prst="roundRect">
            <a:avLst>
              <a:gd name="adj" fmla="val 12000"/>
            </a:avLst>
          </a:prstGeom>
          <a:solidFill>
            <a:srgbClr val="E8F5E0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0" y="3048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06000" y="3048000"/>
            <a:ext cx="533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Challenges &amp; Solutions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36000" y="4191000"/>
            <a:ext cx="6858000" cy="889000"/>
          </a:xfrm>
          <a:prstGeom prst="roundRect">
            <a:avLst>
              <a:gd name="adj" fmla="val 12000"/>
            </a:avLst>
          </a:prstGeom>
          <a:solidFill>
            <a:srgbClr val="FDE8EF"/>
          </a:solidFill>
          <a:ln/>
        </p:spPr>
      </p:sp>
      <p:sp>
        <p:nvSpPr>
          <p:cNvPr id="22" name="Text 20"/>
          <p:cNvSpPr/>
          <p:nvPr/>
        </p:nvSpPr>
        <p:spPr>
          <a:xfrm>
            <a:off x="8890000" y="4191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06000" y="4191000"/>
            <a:ext cx="533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74000" y="5461000"/>
            <a:ext cx="254000" cy="2540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4D06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-1016000" y="-762000"/>
            <a:ext cx="1651000" cy="1397000"/>
          </a:xfrm>
          <a:prstGeom prst="ellipse">
            <a:avLst/>
          </a:prstGeom>
          <a:solidFill>
            <a:srgbClr val="6BA84B"/>
          </a:solidFill>
          <a:ln/>
        </p:spPr>
      </p:sp>
      <p:sp>
        <p:nvSpPr>
          <p:cNvPr id="3" name="Shape 1"/>
          <p:cNvSpPr/>
          <p:nvPr/>
        </p:nvSpPr>
        <p:spPr>
          <a:xfrm rot="1500000">
            <a:off x="15748000" y="8382000"/>
            <a:ext cx="1270000" cy="1270000"/>
          </a:xfrm>
          <a:prstGeom prst="ellipse">
            <a:avLst/>
          </a:prstGeom>
          <a:solidFill>
            <a:srgbClr val="E87A9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244600"/>
            <a:ext cx="1270000" cy="0"/>
          </a:xfrm>
          <a:prstGeom prst="straightConnector1">
            <a:avLst/>
          </a:prstGeom>
          <a:noFill/>
          <a:ln w="38100">
            <a:solidFill>
              <a:srgbClr val="E87A9A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524000"/>
            <a:ext cx="7112000" cy="2032000"/>
          </a:xfrm>
          <a:prstGeom prst="roundRect">
            <a:avLst>
              <a:gd name="adj" fmla="val 10000"/>
            </a:avLst>
          </a:prstGeom>
          <a:solidFill>
            <a:srgbClr val="E8F5E0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122238"/>
                </a:moveTo>
                <a:cubicBezTo>
                  <a:pt x="165507" y="122238"/>
                  <a:pt x="155575" y="132169"/>
                  <a:pt x="155575" y="144463"/>
                </a:cubicBezTo>
                <a:cubicBezTo>
                  <a:pt x="155575" y="153700"/>
                  <a:pt x="148144" y="161131"/>
                  <a:pt x="138906" y="161131"/>
                </a:cubicBezTo>
                <a:cubicBezTo>
                  <a:pt x="129669" y="161131"/>
                  <a:pt x="122238" y="153700"/>
                  <a:pt x="122238" y="144463"/>
                </a:cubicBezTo>
                <a:cubicBezTo>
                  <a:pt x="122238" y="113764"/>
                  <a:pt x="147102" y="88900"/>
                  <a:pt x="177800" y="88900"/>
                </a:cubicBezTo>
                <a:cubicBezTo>
                  <a:pt x="208498" y="88900"/>
                  <a:pt x="233363" y="113764"/>
                  <a:pt x="233363" y="144463"/>
                </a:cubicBezTo>
                <a:cubicBezTo>
                  <a:pt x="233363" y="177244"/>
                  <a:pt x="208359" y="191135"/>
                  <a:pt x="194469" y="196205"/>
                </a:cubicBezTo>
                <a:lnTo>
                  <a:pt x="194469" y="198844"/>
                </a:lnTo>
                <a:cubicBezTo>
                  <a:pt x="194469" y="208082"/>
                  <a:pt x="187037" y="215513"/>
                  <a:pt x="177800" y="215513"/>
                </a:cubicBezTo>
                <a:cubicBezTo>
                  <a:pt x="168563" y="215513"/>
                  <a:pt x="161131" y="208082"/>
                  <a:pt x="161131" y="198844"/>
                </a:cubicBezTo>
                <a:lnTo>
                  <a:pt x="161131" y="193219"/>
                </a:lnTo>
                <a:cubicBezTo>
                  <a:pt x="161131" y="178981"/>
                  <a:pt x="171410" y="168771"/>
                  <a:pt x="182037" y="165298"/>
                </a:cubicBezTo>
                <a:cubicBezTo>
                  <a:pt x="186482" y="163840"/>
                  <a:pt x="191204" y="161479"/>
                  <a:pt x="194677" y="158145"/>
                </a:cubicBezTo>
                <a:cubicBezTo>
                  <a:pt x="197664" y="155228"/>
                  <a:pt x="200025" y="151199"/>
                  <a:pt x="200025" y="144532"/>
                </a:cubicBezTo>
                <a:cubicBezTo>
                  <a:pt x="200025" y="132239"/>
                  <a:pt x="190093" y="122307"/>
                  <a:pt x="177800" y="122307"/>
                </a:cubicBezTo>
                <a:close/>
                <a:moveTo>
                  <a:pt x="155575" y="255587"/>
                </a:moveTo>
                <a:cubicBezTo>
                  <a:pt x="155575" y="243321"/>
                  <a:pt x="165534" y="233363"/>
                  <a:pt x="177800" y="233363"/>
                </a:cubicBezTo>
                <a:cubicBezTo>
                  <a:pt x="190066" y="233363"/>
                  <a:pt x="200025" y="243321"/>
                  <a:pt x="200025" y="255587"/>
                </a:cubicBezTo>
                <a:cubicBezTo>
                  <a:pt x="200025" y="267854"/>
                  <a:pt x="190066" y="277813"/>
                  <a:pt x="177800" y="277813"/>
                </a:cubicBezTo>
                <a:cubicBezTo>
                  <a:pt x="165534" y="277813"/>
                  <a:pt x="155575" y="267854"/>
                  <a:pt x="155575" y="255587"/>
                </a:cubicBezTo>
                <a:close/>
              </a:path>
            </a:pathLst>
          </a:custGeom>
          <a:solidFill>
            <a:srgbClr val="6BA84B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16764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What is this project?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1844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Course Enrollment System developed in Java to help educational institutions manage students, courses, and enrollments.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3619500"/>
            <a:ext cx="7112000" cy="4318000"/>
          </a:xfrm>
          <a:prstGeom prst="roundRect">
            <a:avLst>
              <a:gd name="adj" fmla="val 10000"/>
            </a:avLst>
          </a:prstGeom>
          <a:solidFill>
            <a:srgbClr val="FDE8EF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3721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5503" y="6598"/>
                </a:moveTo>
                <a:cubicBezTo>
                  <a:pt x="137587" y="-3681"/>
                  <a:pt x="146685" y="-11112"/>
                  <a:pt x="157242" y="-11112"/>
                </a:cubicBezTo>
                <a:lnTo>
                  <a:pt x="198775" y="-11112"/>
                </a:lnTo>
                <a:cubicBezTo>
                  <a:pt x="209332" y="-11112"/>
                  <a:pt x="218430" y="-3681"/>
                  <a:pt x="220514" y="6598"/>
                </a:cubicBezTo>
                <a:lnTo>
                  <a:pt x="230584" y="55215"/>
                </a:lnTo>
                <a:cubicBezTo>
                  <a:pt x="240377" y="59382"/>
                  <a:pt x="249545" y="64730"/>
                  <a:pt x="257879" y="71051"/>
                </a:cubicBezTo>
                <a:lnTo>
                  <a:pt x="304969" y="55424"/>
                </a:lnTo>
                <a:cubicBezTo>
                  <a:pt x="314970" y="52090"/>
                  <a:pt x="325944" y="56257"/>
                  <a:pt x="331222" y="65425"/>
                </a:cubicBezTo>
                <a:lnTo>
                  <a:pt x="351988" y="101402"/>
                </a:lnTo>
                <a:cubicBezTo>
                  <a:pt x="357267" y="110569"/>
                  <a:pt x="355392" y="122099"/>
                  <a:pt x="347474" y="129113"/>
                </a:cubicBezTo>
                <a:lnTo>
                  <a:pt x="310455" y="162034"/>
                </a:lnTo>
                <a:cubicBezTo>
                  <a:pt x="311081" y="167174"/>
                  <a:pt x="311358" y="172452"/>
                  <a:pt x="311358" y="177800"/>
                </a:cubicBezTo>
                <a:cubicBezTo>
                  <a:pt x="311358" y="183148"/>
                  <a:pt x="311011" y="188426"/>
                  <a:pt x="310455" y="193566"/>
                </a:cubicBezTo>
                <a:lnTo>
                  <a:pt x="347543" y="226556"/>
                </a:lnTo>
                <a:cubicBezTo>
                  <a:pt x="355461" y="233571"/>
                  <a:pt x="357267" y="245170"/>
                  <a:pt x="352058" y="254268"/>
                </a:cubicBezTo>
                <a:lnTo>
                  <a:pt x="331291" y="290245"/>
                </a:lnTo>
                <a:cubicBezTo>
                  <a:pt x="326013" y="299343"/>
                  <a:pt x="315039" y="303580"/>
                  <a:pt x="305038" y="300246"/>
                </a:cubicBezTo>
                <a:lnTo>
                  <a:pt x="257949" y="284619"/>
                </a:lnTo>
                <a:cubicBezTo>
                  <a:pt x="249545" y="290939"/>
                  <a:pt x="240377" y="296218"/>
                  <a:pt x="230654" y="300454"/>
                </a:cubicBezTo>
                <a:lnTo>
                  <a:pt x="220653" y="349002"/>
                </a:lnTo>
                <a:cubicBezTo>
                  <a:pt x="218500" y="359350"/>
                  <a:pt x="209401" y="366712"/>
                  <a:pt x="198914" y="366712"/>
                </a:cubicBezTo>
                <a:lnTo>
                  <a:pt x="157381" y="366712"/>
                </a:lnTo>
                <a:cubicBezTo>
                  <a:pt x="146824" y="366712"/>
                  <a:pt x="137726" y="359281"/>
                  <a:pt x="135642" y="349002"/>
                </a:cubicBezTo>
                <a:lnTo>
                  <a:pt x="125641" y="300454"/>
                </a:lnTo>
                <a:cubicBezTo>
                  <a:pt x="115848" y="296287"/>
                  <a:pt x="106749" y="290939"/>
                  <a:pt x="98346" y="284619"/>
                </a:cubicBezTo>
                <a:lnTo>
                  <a:pt x="51048" y="300246"/>
                </a:lnTo>
                <a:cubicBezTo>
                  <a:pt x="41047" y="303580"/>
                  <a:pt x="30073" y="299412"/>
                  <a:pt x="24795" y="290245"/>
                </a:cubicBezTo>
                <a:lnTo>
                  <a:pt x="4028" y="254268"/>
                </a:lnTo>
                <a:cubicBezTo>
                  <a:pt x="-1250" y="245100"/>
                  <a:pt x="625" y="233571"/>
                  <a:pt x="8543" y="226556"/>
                </a:cubicBezTo>
                <a:lnTo>
                  <a:pt x="45631" y="193566"/>
                </a:lnTo>
                <a:cubicBezTo>
                  <a:pt x="45006" y="188426"/>
                  <a:pt x="44728" y="183148"/>
                  <a:pt x="44728" y="177800"/>
                </a:cubicBezTo>
                <a:cubicBezTo>
                  <a:pt x="44728" y="172452"/>
                  <a:pt x="45075" y="167174"/>
                  <a:pt x="45631" y="162034"/>
                </a:cubicBezTo>
                <a:lnTo>
                  <a:pt x="8543" y="129044"/>
                </a:lnTo>
                <a:cubicBezTo>
                  <a:pt x="625" y="122029"/>
                  <a:pt x="-1181" y="110430"/>
                  <a:pt x="4028" y="101332"/>
                </a:cubicBezTo>
                <a:lnTo>
                  <a:pt x="24795" y="65355"/>
                </a:lnTo>
                <a:cubicBezTo>
                  <a:pt x="30073" y="56188"/>
                  <a:pt x="41047" y="52020"/>
                  <a:pt x="51048" y="55354"/>
                </a:cubicBezTo>
                <a:lnTo>
                  <a:pt x="98137" y="70981"/>
                </a:lnTo>
                <a:cubicBezTo>
                  <a:pt x="106541" y="64661"/>
                  <a:pt x="115709" y="59382"/>
                  <a:pt x="125432" y="55146"/>
                </a:cubicBezTo>
                <a:lnTo>
                  <a:pt x="135503" y="6598"/>
                </a:lnTo>
                <a:close/>
                <a:moveTo>
                  <a:pt x="178008" y="233363"/>
                </a:moveTo>
                <a:cubicBezTo>
                  <a:pt x="197859" y="233288"/>
                  <a:pt x="216162" y="222629"/>
                  <a:pt x="226023" y="205401"/>
                </a:cubicBezTo>
                <a:cubicBezTo>
                  <a:pt x="235884" y="188172"/>
                  <a:pt x="235804" y="166992"/>
                  <a:pt x="225814" y="149838"/>
                </a:cubicBezTo>
                <a:cubicBezTo>
                  <a:pt x="215825" y="132684"/>
                  <a:pt x="197442" y="122163"/>
                  <a:pt x="177592" y="122237"/>
                </a:cubicBezTo>
                <a:cubicBezTo>
                  <a:pt x="157741" y="122312"/>
                  <a:pt x="139438" y="132971"/>
                  <a:pt x="129577" y="150199"/>
                </a:cubicBezTo>
                <a:cubicBezTo>
                  <a:pt x="119716" y="167428"/>
                  <a:pt x="119796" y="188608"/>
                  <a:pt x="129786" y="205762"/>
                </a:cubicBezTo>
                <a:cubicBezTo>
                  <a:pt x="139775" y="222916"/>
                  <a:pt x="158158" y="233437"/>
                  <a:pt x="178008" y="233363"/>
                </a:cubicBezTo>
                <a:close/>
              </a:path>
            </a:pathLst>
          </a:custGeom>
          <a:solidFill>
            <a:srgbClr val="E87A9A"/>
          </a:solidFill>
          <a:ln/>
        </p:spPr>
      </p:sp>
      <p:sp>
        <p:nvSpPr>
          <p:cNvPr id="12" name="Text 10"/>
          <p:cNvSpPr/>
          <p:nvPr/>
        </p:nvSpPr>
        <p:spPr>
          <a:xfrm>
            <a:off x="1498600" y="36830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87A9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Core Functionality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2291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6BA8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Manage Students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Add, view, update, and delete student records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16000" y="51689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6BA8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Manage Courses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Create and maintain course offerings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16000" y="61087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6BA8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Manage Enrollments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Register students to courses, update, and drop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16000" y="70485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6BA8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Role-Based Access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Teacher (full control) and Student (view-only)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82000" y="1524000"/>
            <a:ext cx="7112000" cy="5842000"/>
          </a:xfrm>
          <a:prstGeom prst="roundRect">
            <a:avLst>
              <a:gd name="adj" fmla="val 10000"/>
            </a:avLst>
          </a:prstGeom>
          <a:solidFill>
            <a:srgbClr val="E8F5E0"/>
          </a:solidFill>
          <a:ln/>
        </p:spPr>
      </p:sp>
      <p:sp>
        <p:nvSpPr>
          <p:cNvPr id="18" name="Shape 16"/>
          <p:cNvSpPr/>
          <p:nvPr/>
        </p:nvSpPr>
        <p:spPr>
          <a:xfrm>
            <a:off x="8658225" y="1714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6BA84B"/>
          </a:solidFill>
          <a:ln/>
        </p:spPr>
      </p:sp>
      <p:sp>
        <p:nvSpPr>
          <p:cNvPr id="19" name="Text 17"/>
          <p:cNvSpPr/>
          <p:nvPr/>
        </p:nvSpPr>
        <p:spPr>
          <a:xfrm>
            <a:off x="9118600" y="16764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Model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0" y="22860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6BA8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first name, last name, email, score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36000" y="39370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6BA8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Course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course name, instructor, credit hours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36000" y="55880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6BA8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Enrollment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links students to courses with date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-1016000" y="-762000"/>
            <a:ext cx="1651000" cy="1397000"/>
          </a:xfrm>
          <a:prstGeom prst="ellipse">
            <a:avLst/>
          </a:prstGeom>
          <a:solidFill>
            <a:srgbClr val="6BA84B"/>
          </a:solidFill>
          <a:ln/>
        </p:spPr>
      </p:sp>
      <p:sp>
        <p:nvSpPr>
          <p:cNvPr id="3" name="Shape 1"/>
          <p:cNvSpPr/>
          <p:nvPr/>
        </p:nvSpPr>
        <p:spPr>
          <a:xfrm rot="1500000">
            <a:off x="15748000" y="8382000"/>
            <a:ext cx="1270000" cy="1270000"/>
          </a:xfrm>
          <a:prstGeom prst="ellipse">
            <a:avLst/>
          </a:prstGeom>
          <a:solidFill>
            <a:srgbClr val="E87A9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Features &amp; Functionality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244600"/>
            <a:ext cx="1270000" cy="0"/>
          </a:xfrm>
          <a:prstGeom prst="straightConnector1">
            <a:avLst/>
          </a:prstGeom>
          <a:noFill/>
          <a:ln w="38100">
            <a:solidFill>
              <a:srgbClr val="E87A9A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524000"/>
            <a:ext cx="4699000" cy="2032000"/>
          </a:xfrm>
          <a:prstGeom prst="roundRect">
            <a:avLst>
              <a:gd name="adj" fmla="val 10000"/>
            </a:avLst>
          </a:prstGeom>
          <a:solidFill>
            <a:srgbClr val="E8F5E0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5770" y="158700"/>
                </a:moveTo>
                <a:cubicBezTo>
                  <a:pt x="55007" y="94109"/>
                  <a:pt x="110639" y="44450"/>
                  <a:pt x="177800" y="44450"/>
                </a:cubicBezTo>
                <a:cubicBezTo>
                  <a:pt x="214610" y="44450"/>
                  <a:pt x="247948" y="59382"/>
                  <a:pt x="272117" y="83483"/>
                </a:cubicBezTo>
                <a:cubicBezTo>
                  <a:pt x="272256" y="83622"/>
                  <a:pt x="272395" y="83760"/>
                  <a:pt x="272534" y="83899"/>
                </a:cubicBezTo>
                <a:lnTo>
                  <a:pt x="277813" y="88900"/>
                </a:lnTo>
                <a:lnTo>
                  <a:pt x="244544" y="88900"/>
                </a:lnTo>
                <a:cubicBezTo>
                  <a:pt x="232251" y="88900"/>
                  <a:pt x="222319" y="98832"/>
                  <a:pt x="222319" y="111125"/>
                </a:cubicBezTo>
                <a:cubicBezTo>
                  <a:pt x="222319" y="123418"/>
                  <a:pt x="232251" y="133350"/>
                  <a:pt x="244544" y="133350"/>
                </a:cubicBezTo>
                <a:lnTo>
                  <a:pt x="333444" y="133350"/>
                </a:lnTo>
                <a:cubicBezTo>
                  <a:pt x="345738" y="133350"/>
                  <a:pt x="355669" y="123418"/>
                  <a:pt x="355669" y="111125"/>
                </a:cubicBezTo>
                <a:lnTo>
                  <a:pt x="355669" y="22225"/>
                </a:lnTo>
                <a:cubicBezTo>
                  <a:pt x="355669" y="9932"/>
                  <a:pt x="345738" y="0"/>
                  <a:pt x="333444" y="0"/>
                </a:cubicBezTo>
                <a:cubicBezTo>
                  <a:pt x="321151" y="0"/>
                  <a:pt x="311219" y="9932"/>
                  <a:pt x="311219" y="22225"/>
                </a:cubicBezTo>
                <a:lnTo>
                  <a:pt x="311219" y="59313"/>
                </a:lnTo>
                <a:lnTo>
                  <a:pt x="303371" y="51881"/>
                </a:lnTo>
                <a:cubicBezTo>
                  <a:pt x="271214" y="19864"/>
                  <a:pt x="226764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lose/>
                <a:moveTo>
                  <a:pt x="353794" y="203150"/>
                </a:moveTo>
                <a:cubicBezTo>
                  <a:pt x="355531" y="190996"/>
                  <a:pt x="347057" y="179745"/>
                  <a:pt x="334972" y="178008"/>
                </a:cubicBezTo>
                <a:cubicBezTo>
                  <a:pt x="322888" y="176272"/>
                  <a:pt x="311567" y="184745"/>
                  <a:pt x="309830" y="196830"/>
                </a:cubicBezTo>
                <a:cubicBezTo>
                  <a:pt x="300593" y="261422"/>
                  <a:pt x="244961" y="311081"/>
                  <a:pt x="177800" y="311081"/>
                </a:cubicBezTo>
                <a:cubicBezTo>
                  <a:pt x="140990" y="311081"/>
                  <a:pt x="107652" y="296148"/>
                  <a:pt x="83483" y="272048"/>
                </a:cubicBezTo>
                <a:cubicBezTo>
                  <a:pt x="83344" y="271909"/>
                  <a:pt x="83205" y="271770"/>
                  <a:pt x="83066" y="271631"/>
                </a:cubicBezTo>
                <a:lnTo>
                  <a:pt x="77787" y="266631"/>
                </a:lnTo>
                <a:lnTo>
                  <a:pt x="111056" y="266631"/>
                </a:lnTo>
                <a:cubicBezTo>
                  <a:pt x="123349" y="266631"/>
                  <a:pt x="133281" y="256699"/>
                  <a:pt x="133281" y="244406"/>
                </a:cubicBezTo>
                <a:cubicBezTo>
                  <a:pt x="133281" y="232112"/>
                  <a:pt x="123349" y="222181"/>
                  <a:pt x="111056" y="222181"/>
                </a:cubicBezTo>
                <a:lnTo>
                  <a:pt x="22225" y="222250"/>
                </a:lnTo>
                <a:cubicBezTo>
                  <a:pt x="16321" y="222250"/>
                  <a:pt x="10626" y="224611"/>
                  <a:pt x="6459" y="228848"/>
                </a:cubicBezTo>
                <a:cubicBezTo>
                  <a:pt x="2292" y="233085"/>
                  <a:pt x="-69" y="238710"/>
                  <a:pt x="0" y="244683"/>
                </a:cubicBezTo>
                <a:lnTo>
                  <a:pt x="695" y="332889"/>
                </a:lnTo>
                <a:cubicBezTo>
                  <a:pt x="764" y="345182"/>
                  <a:pt x="10835" y="355044"/>
                  <a:pt x="23128" y="354905"/>
                </a:cubicBezTo>
                <a:cubicBezTo>
                  <a:pt x="35421" y="354767"/>
                  <a:pt x="45283" y="344765"/>
                  <a:pt x="45145" y="332472"/>
                </a:cubicBezTo>
                <a:lnTo>
                  <a:pt x="44867" y="296704"/>
                </a:lnTo>
                <a:lnTo>
                  <a:pt x="52298" y="303719"/>
                </a:lnTo>
                <a:cubicBezTo>
                  <a:pt x="84455" y="335736"/>
                  <a:pt x="128836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6BA84B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1676400"/>
            <a:ext cx="355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Full CRUD Operations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1844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 management with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Create, Read, Update, Delete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functionality for all data.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78500" y="1524000"/>
            <a:ext cx="4699000" cy="2032000"/>
          </a:xfrm>
          <a:prstGeom prst="roundRect">
            <a:avLst>
              <a:gd name="adj" fmla="val 10000"/>
            </a:avLst>
          </a:prstGeom>
          <a:solidFill>
            <a:srgbClr val="FDE8EF"/>
          </a:solidFill>
          <a:ln/>
        </p:spPr>
      </p:sp>
      <p:sp>
        <p:nvSpPr>
          <p:cNvPr id="11" name="Shape 9"/>
          <p:cNvSpPr/>
          <p:nvPr/>
        </p:nvSpPr>
        <p:spPr>
          <a:xfrm>
            <a:off x="60325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  <a:moveTo>
                  <a:pt x="666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00025"/>
                </a:lnTo>
                <a:cubicBezTo>
                  <a:pt x="311150" y="212318"/>
                  <a:pt x="301218" y="222250"/>
                  <a:pt x="288925" y="222250"/>
                </a:cubicBezTo>
                <a:lnTo>
                  <a:pt x="66675" y="222250"/>
                </a:lnTo>
                <a:cubicBezTo>
                  <a:pt x="54382" y="222250"/>
                  <a:pt x="44450" y="212318"/>
                  <a:pt x="44450" y="200025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close/>
              </a:path>
            </a:pathLst>
          </a:custGeom>
          <a:solidFill>
            <a:srgbClr val="E87A9A"/>
          </a:solidFill>
          <a:ln/>
        </p:spPr>
      </p:sp>
      <p:sp>
        <p:nvSpPr>
          <p:cNvPr id="12" name="Text 10"/>
          <p:cNvSpPr/>
          <p:nvPr/>
        </p:nvSpPr>
        <p:spPr>
          <a:xfrm>
            <a:off x="6515100" y="1676400"/>
            <a:ext cx="355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87A9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Graphical User Interface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21844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 Swing GUI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visual interaction using windows, dialogs, and tables.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795000" y="1524000"/>
            <a:ext cx="4699000" cy="2032000"/>
          </a:xfrm>
          <a:prstGeom prst="roundRect">
            <a:avLst>
              <a:gd name="adj" fmla="val 10000"/>
            </a:avLst>
          </a:prstGeom>
          <a:solidFill>
            <a:srgbClr val="E8F5E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93450" y="1714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88900" y="66675"/>
                </a:moveTo>
                <a:lnTo>
                  <a:pt x="88900" y="111125"/>
                </a:lnTo>
                <a:lnTo>
                  <a:pt x="177800" y="111125"/>
                </a:lnTo>
                <a:lnTo>
                  <a:pt x="177800" y="66675"/>
                </a:lnTo>
                <a:cubicBezTo>
                  <a:pt x="177800" y="42158"/>
                  <a:pt x="157867" y="22225"/>
                  <a:pt x="133350" y="22225"/>
                </a:cubicBezTo>
                <a:cubicBezTo>
                  <a:pt x="108833" y="22225"/>
                  <a:pt x="88900" y="42158"/>
                  <a:pt x="88900" y="66675"/>
                </a:cubicBezTo>
                <a:close/>
                <a:moveTo>
                  <a:pt x="44450" y="111125"/>
                </a:moveTo>
                <a:lnTo>
                  <a:pt x="44450" y="66675"/>
                </a:lnTo>
                <a:cubicBezTo>
                  <a:pt x="44450" y="17572"/>
                  <a:pt x="84247" y="-22225"/>
                  <a:pt x="133350" y="-22225"/>
                </a:cubicBezTo>
                <a:cubicBezTo>
                  <a:pt x="182453" y="-22225"/>
                  <a:pt x="222250" y="17572"/>
                  <a:pt x="222250" y="66675"/>
                </a:cubicBezTo>
                <a:lnTo>
                  <a:pt x="222250" y="111125"/>
                </a:lnTo>
                <a:cubicBezTo>
                  <a:pt x="246767" y="111125"/>
                  <a:pt x="266700" y="131058"/>
                  <a:pt x="266700" y="1555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19933" y="111125"/>
                  <a:pt x="44450" y="111125"/>
                </a:cubicBezTo>
                <a:close/>
              </a:path>
            </a:pathLst>
          </a:custGeom>
          <a:solidFill>
            <a:srgbClr val="6BA84B"/>
          </a:solidFill>
          <a:ln/>
        </p:spPr>
      </p:sp>
      <p:sp>
        <p:nvSpPr>
          <p:cNvPr id="16" name="Text 14"/>
          <p:cNvSpPr/>
          <p:nvPr/>
        </p:nvSpPr>
        <p:spPr>
          <a:xfrm>
            <a:off x="11531600" y="1676400"/>
            <a:ext cx="355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Authentication &amp; Security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0" y="21844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User login,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SHA-256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password hashing, role-based access control.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3937000"/>
            <a:ext cx="14732000" cy="889000"/>
          </a:xfrm>
          <a:prstGeom prst="roundRect">
            <a:avLst>
              <a:gd name="adj" fmla="val 8000"/>
            </a:avLst>
          </a:prstGeom>
          <a:solidFill>
            <a:srgbClr val="6BA84B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3937000"/>
            <a:ext cx="1422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Goal: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Make student and course management simple, secure, and efficient for educational use.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207000"/>
            <a:ext cx="7112000" cy="3302000"/>
          </a:xfrm>
          <a:prstGeom prst="roundRect">
            <a:avLst>
              <a:gd name="adj" fmla="val 10000"/>
            </a:avLst>
          </a:prstGeom>
          <a:solidFill>
            <a:srgbClr val="FDE8EF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53340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87A9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Auth Features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" y="58674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6BA8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User Login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Username and password authentication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6000" y="66294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6BA8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Password Hashing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SHA-256 encryption for security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16000" y="73914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6BA8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Role-Based Access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Teacher and Student permissions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382000" y="5207000"/>
            <a:ext cx="7112000" cy="3302000"/>
          </a:xfrm>
          <a:prstGeom prst="roundRect">
            <a:avLst>
              <a:gd name="adj" fmla="val 10000"/>
            </a:avLst>
          </a:prstGeom>
          <a:solidFill>
            <a:srgbClr val="E8F5E0"/>
          </a:solidFill>
          <a:ln/>
        </p:spPr>
      </p:sp>
      <p:sp>
        <p:nvSpPr>
          <p:cNvPr id="26" name="Text 24"/>
          <p:cNvSpPr/>
          <p:nvPr/>
        </p:nvSpPr>
        <p:spPr>
          <a:xfrm>
            <a:off x="8636000" y="53340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CRUD Operations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763000" y="6096000"/>
            <a:ext cx="1397000" cy="635000"/>
          </a:xfrm>
          <a:prstGeom prst="roundRect">
            <a:avLst>
              <a:gd name="adj" fmla="val 50000"/>
            </a:avLst>
          </a:prstGeom>
          <a:solidFill>
            <a:srgbClr val="6BA84B"/>
          </a:solidFill>
          <a:ln/>
        </p:spPr>
      </p:sp>
      <p:sp>
        <p:nvSpPr>
          <p:cNvPr id="28" name="Text 26"/>
          <p:cNvSpPr/>
          <p:nvPr/>
        </p:nvSpPr>
        <p:spPr>
          <a:xfrm>
            <a:off x="8763000" y="6096000"/>
            <a:ext cx="139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CREATE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414000" y="6096000"/>
            <a:ext cx="1397000" cy="635000"/>
          </a:xfrm>
          <a:prstGeom prst="roundRect">
            <a:avLst>
              <a:gd name="adj" fmla="val 50000"/>
            </a:avLst>
          </a:prstGeom>
          <a:solidFill>
            <a:srgbClr val="E87A9A"/>
          </a:solidFill>
          <a:ln/>
        </p:spPr>
      </p:sp>
      <p:sp>
        <p:nvSpPr>
          <p:cNvPr id="30" name="Text 28"/>
          <p:cNvSpPr/>
          <p:nvPr/>
        </p:nvSpPr>
        <p:spPr>
          <a:xfrm>
            <a:off x="10414000" y="6096000"/>
            <a:ext cx="139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065000" y="6096000"/>
            <a:ext cx="1397000" cy="635000"/>
          </a:xfrm>
          <a:prstGeom prst="roundRect">
            <a:avLst>
              <a:gd name="adj" fmla="val 50000"/>
            </a:avLst>
          </a:prstGeom>
          <a:solidFill>
            <a:srgbClr val="6BA84B"/>
          </a:solidFill>
          <a:ln/>
        </p:spPr>
      </p:sp>
      <p:sp>
        <p:nvSpPr>
          <p:cNvPr id="32" name="Text 30"/>
          <p:cNvSpPr/>
          <p:nvPr/>
        </p:nvSpPr>
        <p:spPr>
          <a:xfrm>
            <a:off x="12065000" y="6096000"/>
            <a:ext cx="139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UPDATE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3716000" y="6096000"/>
            <a:ext cx="1397000" cy="635000"/>
          </a:xfrm>
          <a:prstGeom prst="roundRect">
            <a:avLst>
              <a:gd name="adj" fmla="val 50000"/>
            </a:avLst>
          </a:prstGeom>
          <a:solidFill>
            <a:srgbClr val="E87A9A"/>
          </a:solidFill>
          <a:ln/>
        </p:spPr>
      </p:sp>
      <p:sp>
        <p:nvSpPr>
          <p:cNvPr id="34" name="Text 32"/>
          <p:cNvSpPr/>
          <p:nvPr/>
        </p:nvSpPr>
        <p:spPr>
          <a:xfrm>
            <a:off x="13716000" y="6096000"/>
            <a:ext cx="139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DELETE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36000" y="71120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 data management for students, courses, and enrollments with full persistence.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-1016000" y="-762000"/>
            <a:ext cx="1651000" cy="1397000"/>
          </a:xfrm>
          <a:prstGeom prst="ellipse">
            <a:avLst/>
          </a:prstGeom>
          <a:solidFill>
            <a:srgbClr val="6BA84B"/>
          </a:solidFill>
          <a:ln/>
        </p:spPr>
      </p:sp>
      <p:sp>
        <p:nvSpPr>
          <p:cNvPr id="3" name="Shape 1"/>
          <p:cNvSpPr/>
          <p:nvPr/>
        </p:nvSpPr>
        <p:spPr>
          <a:xfrm rot="1500000">
            <a:off x="15748000" y="8382000"/>
            <a:ext cx="1270000" cy="1270000"/>
          </a:xfrm>
          <a:prstGeom prst="ellipse">
            <a:avLst/>
          </a:prstGeom>
          <a:solidFill>
            <a:srgbClr val="E87A9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Additional Features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244600"/>
            <a:ext cx="1270000" cy="0"/>
          </a:xfrm>
          <a:prstGeom prst="straightConnector1">
            <a:avLst/>
          </a:prstGeom>
          <a:noFill/>
          <a:ln w="38100">
            <a:solidFill>
              <a:srgbClr val="E87A9A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524000"/>
            <a:ext cx="7112000" cy="1651000"/>
          </a:xfrm>
          <a:prstGeom prst="roundRect">
            <a:avLst>
              <a:gd name="adj" fmla="val 10000"/>
            </a:avLst>
          </a:prstGeom>
          <a:solidFill>
            <a:srgbClr val="E8F5E0"/>
          </a:solidFill>
          <a:ln/>
        </p:spPr>
      </p:sp>
      <p:sp>
        <p:nvSpPr>
          <p:cNvPr id="7" name="Shape 5"/>
          <p:cNvSpPr/>
          <p:nvPr/>
        </p:nvSpPr>
        <p:spPr>
          <a:xfrm>
            <a:off x="1041400" y="1778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6BA84B"/>
          </a:solidFill>
          <a:ln/>
        </p:spPr>
      </p:sp>
      <p:sp>
        <p:nvSpPr>
          <p:cNvPr id="8" name="Text 6"/>
          <p:cNvSpPr/>
          <p:nvPr/>
        </p:nvSpPr>
        <p:spPr>
          <a:xfrm>
            <a:off x="1587500" y="1651000"/>
            <a:ext cx="6032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6BA8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Database Storage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SQLite database with JDBC for persistent data storage across sessions.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82000" y="1524000"/>
            <a:ext cx="7112000" cy="1651000"/>
          </a:xfrm>
          <a:prstGeom prst="roundRect">
            <a:avLst>
              <a:gd name="adj" fmla="val 10000"/>
            </a:avLst>
          </a:prstGeom>
          <a:solidFill>
            <a:srgbClr val="FDE8EF"/>
          </a:solidFill>
          <a:ln/>
        </p:spPr>
      </p:sp>
      <p:sp>
        <p:nvSpPr>
          <p:cNvPr id="10" name="Shape 8"/>
          <p:cNvSpPr/>
          <p:nvPr/>
        </p:nvSpPr>
        <p:spPr>
          <a:xfrm>
            <a:off x="8610600" y="1778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76200" y="0"/>
                </a:moveTo>
                <a:cubicBezTo>
                  <a:pt x="48181" y="0"/>
                  <a:pt x="25400" y="22781"/>
                  <a:pt x="25400" y="50800"/>
                </a:cubicBezTo>
                <a:lnTo>
                  <a:pt x="25400" y="355600"/>
                </a:lnTo>
                <a:cubicBezTo>
                  <a:pt x="25400" y="383619"/>
                  <a:pt x="48181" y="406400"/>
                  <a:pt x="76200" y="406400"/>
                </a:cubicBezTo>
                <a:lnTo>
                  <a:pt x="139700" y="406400"/>
                </a:lnTo>
                <a:lnTo>
                  <a:pt x="139700" y="317500"/>
                </a:lnTo>
                <a:cubicBezTo>
                  <a:pt x="139700" y="289481"/>
                  <a:pt x="162481" y="266700"/>
                  <a:pt x="190500" y="266700"/>
                </a:cubicBezTo>
                <a:lnTo>
                  <a:pt x="330200" y="266700"/>
                </a:lnTo>
                <a:lnTo>
                  <a:pt x="330200" y="135334"/>
                </a:lnTo>
                <a:cubicBezTo>
                  <a:pt x="330200" y="121841"/>
                  <a:pt x="324882" y="108903"/>
                  <a:pt x="315357" y="99378"/>
                </a:cubicBezTo>
                <a:lnTo>
                  <a:pt x="230743" y="14843"/>
                </a:lnTo>
                <a:cubicBezTo>
                  <a:pt x="221218" y="5318"/>
                  <a:pt x="208359" y="0"/>
                  <a:pt x="194866" y="0"/>
                </a:cubicBezTo>
                <a:lnTo>
                  <a:pt x="76200" y="0"/>
                </a:lnTo>
                <a:close/>
                <a:moveTo>
                  <a:pt x="283766" y="139700"/>
                </a:moveTo>
                <a:lnTo>
                  <a:pt x="209550" y="139700"/>
                </a:lnTo>
                <a:cubicBezTo>
                  <a:pt x="198993" y="139700"/>
                  <a:pt x="190500" y="131207"/>
                  <a:pt x="190500" y="120650"/>
                </a:cubicBezTo>
                <a:lnTo>
                  <a:pt x="190500" y="46434"/>
                </a:lnTo>
                <a:lnTo>
                  <a:pt x="283766" y="139700"/>
                </a:lnTo>
                <a:close/>
                <a:moveTo>
                  <a:pt x="209550" y="301625"/>
                </a:moveTo>
                <a:cubicBezTo>
                  <a:pt x="190262" y="301625"/>
                  <a:pt x="174625" y="317262"/>
                  <a:pt x="174625" y="336550"/>
                </a:cubicBezTo>
                <a:lnTo>
                  <a:pt x="174625" y="400050"/>
                </a:lnTo>
                <a:cubicBezTo>
                  <a:pt x="174625" y="419338"/>
                  <a:pt x="190262" y="434975"/>
                  <a:pt x="209550" y="434975"/>
                </a:cubicBezTo>
                <a:lnTo>
                  <a:pt x="222250" y="434975"/>
                </a:lnTo>
                <a:cubicBezTo>
                  <a:pt x="241538" y="434975"/>
                  <a:pt x="257175" y="419338"/>
                  <a:pt x="257175" y="400050"/>
                </a:cubicBezTo>
                <a:lnTo>
                  <a:pt x="257175" y="393700"/>
                </a:lnTo>
                <a:cubicBezTo>
                  <a:pt x="257175" y="384969"/>
                  <a:pt x="250031" y="377825"/>
                  <a:pt x="241300" y="377825"/>
                </a:cubicBezTo>
                <a:cubicBezTo>
                  <a:pt x="232569" y="377825"/>
                  <a:pt x="225425" y="384969"/>
                  <a:pt x="225425" y="393700"/>
                </a:cubicBezTo>
                <a:lnTo>
                  <a:pt x="225425" y="400050"/>
                </a:lnTo>
                <a:cubicBezTo>
                  <a:pt x="225425" y="401796"/>
                  <a:pt x="223996" y="403225"/>
                  <a:pt x="222250" y="403225"/>
                </a:cubicBezTo>
                <a:lnTo>
                  <a:pt x="209550" y="403225"/>
                </a:lnTo>
                <a:cubicBezTo>
                  <a:pt x="207804" y="403225"/>
                  <a:pt x="206375" y="401796"/>
                  <a:pt x="206375" y="400050"/>
                </a:cubicBezTo>
                <a:lnTo>
                  <a:pt x="206375" y="336550"/>
                </a:lnTo>
                <a:cubicBezTo>
                  <a:pt x="206375" y="334804"/>
                  <a:pt x="207804" y="333375"/>
                  <a:pt x="209550" y="333375"/>
                </a:cubicBezTo>
                <a:lnTo>
                  <a:pt x="222250" y="333375"/>
                </a:lnTo>
                <a:cubicBezTo>
                  <a:pt x="223996" y="333375"/>
                  <a:pt x="225425" y="334804"/>
                  <a:pt x="225425" y="336550"/>
                </a:cubicBezTo>
                <a:lnTo>
                  <a:pt x="225425" y="342900"/>
                </a:lnTo>
                <a:cubicBezTo>
                  <a:pt x="225425" y="351631"/>
                  <a:pt x="232569" y="358775"/>
                  <a:pt x="241300" y="358775"/>
                </a:cubicBezTo>
                <a:cubicBezTo>
                  <a:pt x="250031" y="358775"/>
                  <a:pt x="257175" y="351631"/>
                  <a:pt x="257175" y="342900"/>
                </a:cubicBezTo>
                <a:lnTo>
                  <a:pt x="257175" y="336550"/>
                </a:lnTo>
                <a:cubicBezTo>
                  <a:pt x="257175" y="317262"/>
                  <a:pt x="241538" y="301625"/>
                  <a:pt x="222250" y="301625"/>
                </a:cubicBezTo>
                <a:lnTo>
                  <a:pt x="209550" y="301625"/>
                </a:lnTo>
                <a:close/>
                <a:moveTo>
                  <a:pt x="317500" y="301625"/>
                </a:moveTo>
                <a:cubicBezTo>
                  <a:pt x="294719" y="301625"/>
                  <a:pt x="276225" y="320119"/>
                  <a:pt x="276225" y="342900"/>
                </a:cubicBezTo>
                <a:cubicBezTo>
                  <a:pt x="276225" y="365681"/>
                  <a:pt x="294719" y="384175"/>
                  <a:pt x="317500" y="384175"/>
                </a:cubicBezTo>
                <a:cubicBezTo>
                  <a:pt x="322739" y="384175"/>
                  <a:pt x="327025" y="388461"/>
                  <a:pt x="327025" y="393700"/>
                </a:cubicBezTo>
                <a:cubicBezTo>
                  <a:pt x="327025" y="398939"/>
                  <a:pt x="322739" y="403225"/>
                  <a:pt x="317500" y="403225"/>
                </a:cubicBezTo>
                <a:lnTo>
                  <a:pt x="292100" y="403225"/>
                </a:lnTo>
                <a:cubicBezTo>
                  <a:pt x="283369" y="403225"/>
                  <a:pt x="276225" y="410369"/>
                  <a:pt x="276225" y="419100"/>
                </a:cubicBezTo>
                <a:cubicBezTo>
                  <a:pt x="276225" y="427831"/>
                  <a:pt x="283369" y="434975"/>
                  <a:pt x="292100" y="434975"/>
                </a:cubicBezTo>
                <a:lnTo>
                  <a:pt x="317500" y="434975"/>
                </a:lnTo>
                <a:cubicBezTo>
                  <a:pt x="340281" y="434975"/>
                  <a:pt x="358775" y="416481"/>
                  <a:pt x="358775" y="393700"/>
                </a:cubicBezTo>
                <a:cubicBezTo>
                  <a:pt x="358775" y="370919"/>
                  <a:pt x="340281" y="352425"/>
                  <a:pt x="317500" y="352425"/>
                </a:cubicBezTo>
                <a:cubicBezTo>
                  <a:pt x="312261" y="352425"/>
                  <a:pt x="307975" y="348139"/>
                  <a:pt x="307975" y="342900"/>
                </a:cubicBezTo>
                <a:cubicBezTo>
                  <a:pt x="307975" y="337661"/>
                  <a:pt x="312261" y="333375"/>
                  <a:pt x="317500" y="333375"/>
                </a:cubicBezTo>
                <a:lnTo>
                  <a:pt x="336550" y="333375"/>
                </a:lnTo>
                <a:cubicBezTo>
                  <a:pt x="345281" y="333375"/>
                  <a:pt x="352425" y="326231"/>
                  <a:pt x="352425" y="317500"/>
                </a:cubicBezTo>
                <a:cubicBezTo>
                  <a:pt x="352425" y="308769"/>
                  <a:pt x="345281" y="301625"/>
                  <a:pt x="336550" y="301625"/>
                </a:cubicBezTo>
                <a:lnTo>
                  <a:pt x="317500" y="301625"/>
                </a:lnTo>
                <a:close/>
                <a:moveTo>
                  <a:pt x="393700" y="301625"/>
                </a:moveTo>
                <a:cubicBezTo>
                  <a:pt x="384969" y="301625"/>
                  <a:pt x="377825" y="308769"/>
                  <a:pt x="377825" y="317500"/>
                </a:cubicBezTo>
                <a:lnTo>
                  <a:pt x="377825" y="342583"/>
                </a:lnTo>
                <a:cubicBezTo>
                  <a:pt x="377825" y="370761"/>
                  <a:pt x="386159" y="398383"/>
                  <a:pt x="401796" y="421799"/>
                </a:cubicBezTo>
                <a:lnTo>
                  <a:pt x="405844" y="427911"/>
                </a:lnTo>
                <a:cubicBezTo>
                  <a:pt x="408781" y="432356"/>
                  <a:pt x="413782" y="434975"/>
                  <a:pt x="419021" y="434975"/>
                </a:cubicBezTo>
                <a:cubicBezTo>
                  <a:pt x="424259" y="434975"/>
                  <a:pt x="429260" y="432356"/>
                  <a:pt x="432197" y="427911"/>
                </a:cubicBezTo>
                <a:lnTo>
                  <a:pt x="436245" y="421799"/>
                </a:lnTo>
                <a:cubicBezTo>
                  <a:pt x="451882" y="398304"/>
                  <a:pt x="460216" y="370761"/>
                  <a:pt x="460216" y="342582"/>
                </a:cubicBezTo>
                <a:lnTo>
                  <a:pt x="460216" y="317500"/>
                </a:lnTo>
                <a:cubicBezTo>
                  <a:pt x="460216" y="308769"/>
                  <a:pt x="453073" y="301625"/>
                  <a:pt x="444341" y="301625"/>
                </a:cubicBezTo>
                <a:cubicBezTo>
                  <a:pt x="435610" y="301625"/>
                  <a:pt x="428466" y="308769"/>
                  <a:pt x="428466" y="317500"/>
                </a:cubicBezTo>
                <a:lnTo>
                  <a:pt x="428466" y="342582"/>
                </a:lnTo>
                <a:cubicBezTo>
                  <a:pt x="428466" y="358140"/>
                  <a:pt x="425212" y="373459"/>
                  <a:pt x="418941" y="387588"/>
                </a:cubicBezTo>
                <a:cubicBezTo>
                  <a:pt x="412671" y="373459"/>
                  <a:pt x="409416" y="358140"/>
                  <a:pt x="409416" y="342582"/>
                </a:cubicBezTo>
                <a:lnTo>
                  <a:pt x="409416" y="317500"/>
                </a:lnTo>
                <a:cubicBezTo>
                  <a:pt x="409416" y="308769"/>
                  <a:pt x="402273" y="301625"/>
                  <a:pt x="393541" y="301625"/>
                </a:cubicBezTo>
                <a:close/>
              </a:path>
            </a:pathLst>
          </a:custGeom>
          <a:solidFill>
            <a:srgbClr val="E87A9A"/>
          </a:solidFill>
          <a:ln/>
        </p:spPr>
      </p:sp>
      <p:sp>
        <p:nvSpPr>
          <p:cNvPr id="11" name="Text 9"/>
          <p:cNvSpPr/>
          <p:nvPr/>
        </p:nvSpPr>
        <p:spPr>
          <a:xfrm>
            <a:off x="9207500" y="1651000"/>
            <a:ext cx="6032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E87A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CSV Import/Export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portability through CSV files for easy exchange and backup.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3429000"/>
            <a:ext cx="7112000" cy="1651000"/>
          </a:xfrm>
          <a:prstGeom prst="roundRect">
            <a:avLst>
              <a:gd name="adj" fmla="val 10000"/>
            </a:avLst>
          </a:prstGeom>
          <a:solidFill>
            <a:srgbClr val="FDE8E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368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E87A9A"/>
          </a:solidFill>
          <a:ln/>
        </p:spPr>
      </p:sp>
      <p:sp>
        <p:nvSpPr>
          <p:cNvPr id="14" name="Text 12"/>
          <p:cNvSpPr/>
          <p:nvPr/>
        </p:nvSpPr>
        <p:spPr>
          <a:xfrm>
            <a:off x="1587500" y="3556000"/>
            <a:ext cx="6032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E87A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 Validation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Regex patterns and range checks for all fields to ensure data integrity.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382000" y="3429000"/>
            <a:ext cx="7112000" cy="1651000"/>
          </a:xfrm>
          <a:prstGeom prst="roundRect">
            <a:avLst>
              <a:gd name="adj" fmla="val 10000"/>
            </a:avLst>
          </a:prstGeom>
          <a:solidFill>
            <a:srgbClr val="E8F5E0"/>
          </a:solidFill>
          <a:ln/>
        </p:spPr>
      </p:sp>
      <p:sp>
        <p:nvSpPr>
          <p:cNvPr id="16" name="Shape 14"/>
          <p:cNvSpPr/>
          <p:nvPr/>
        </p:nvSpPr>
        <p:spPr>
          <a:xfrm>
            <a:off x="8610600" y="3683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32978" y="76200"/>
                </a:moveTo>
                <a:cubicBezTo>
                  <a:pt x="319802" y="76200"/>
                  <a:pt x="307023" y="79772"/>
                  <a:pt x="295831" y="86281"/>
                </a:cubicBezTo>
                <a:cubicBezTo>
                  <a:pt x="283289" y="73581"/>
                  <a:pt x="268684" y="62944"/>
                  <a:pt x="252571" y="54928"/>
                </a:cubicBezTo>
                <a:cubicBezTo>
                  <a:pt x="274955" y="35878"/>
                  <a:pt x="303451" y="25400"/>
                  <a:pt x="332978" y="25400"/>
                </a:cubicBezTo>
                <a:cubicBezTo>
                  <a:pt x="401558" y="25400"/>
                  <a:pt x="457200" y="80963"/>
                  <a:pt x="457200" y="149622"/>
                </a:cubicBezTo>
                <a:cubicBezTo>
                  <a:pt x="457200" y="182563"/>
                  <a:pt x="444103" y="214154"/>
                  <a:pt x="420846" y="237411"/>
                </a:cubicBezTo>
                <a:lnTo>
                  <a:pt x="364411" y="293846"/>
                </a:lnTo>
                <a:cubicBezTo>
                  <a:pt x="341154" y="317103"/>
                  <a:pt x="309563" y="330200"/>
                  <a:pt x="276622" y="330200"/>
                </a:cubicBezTo>
                <a:cubicBezTo>
                  <a:pt x="208042" y="330200"/>
                  <a:pt x="152400" y="274638"/>
                  <a:pt x="152400" y="205978"/>
                </a:cubicBezTo>
                <a:cubicBezTo>
                  <a:pt x="152400" y="204788"/>
                  <a:pt x="152400" y="203597"/>
                  <a:pt x="152479" y="202406"/>
                </a:cubicBezTo>
                <a:cubicBezTo>
                  <a:pt x="152876" y="188357"/>
                  <a:pt x="164544" y="177324"/>
                  <a:pt x="178594" y="177721"/>
                </a:cubicBezTo>
                <a:cubicBezTo>
                  <a:pt x="192643" y="178118"/>
                  <a:pt x="203676" y="189786"/>
                  <a:pt x="203279" y="203835"/>
                </a:cubicBezTo>
                <a:cubicBezTo>
                  <a:pt x="203279" y="204549"/>
                  <a:pt x="203279" y="205264"/>
                  <a:pt x="203279" y="205899"/>
                </a:cubicBezTo>
                <a:cubicBezTo>
                  <a:pt x="203279" y="246459"/>
                  <a:pt x="236141" y="279321"/>
                  <a:pt x="276701" y="279321"/>
                </a:cubicBezTo>
                <a:cubicBezTo>
                  <a:pt x="296148" y="279321"/>
                  <a:pt x="314801" y="271621"/>
                  <a:pt x="328613" y="257810"/>
                </a:cubicBezTo>
                <a:lnTo>
                  <a:pt x="385048" y="201374"/>
                </a:lnTo>
                <a:cubicBezTo>
                  <a:pt x="398780" y="187643"/>
                  <a:pt x="406559" y="168910"/>
                  <a:pt x="406559" y="149463"/>
                </a:cubicBezTo>
                <a:cubicBezTo>
                  <a:pt x="406559" y="108903"/>
                  <a:pt x="373698" y="76041"/>
                  <a:pt x="333137" y="76041"/>
                </a:cubicBezTo>
                <a:close/>
                <a:moveTo>
                  <a:pt x="218440" y="137557"/>
                </a:moveTo>
                <a:cubicBezTo>
                  <a:pt x="216932" y="136922"/>
                  <a:pt x="215424" y="136049"/>
                  <a:pt x="214074" y="135096"/>
                </a:cubicBezTo>
                <a:cubicBezTo>
                  <a:pt x="204073" y="129937"/>
                  <a:pt x="192643" y="127000"/>
                  <a:pt x="180658" y="127000"/>
                </a:cubicBezTo>
                <a:cubicBezTo>
                  <a:pt x="161211" y="127000"/>
                  <a:pt x="142558" y="134699"/>
                  <a:pt x="128746" y="148511"/>
                </a:cubicBezTo>
                <a:lnTo>
                  <a:pt x="72311" y="204946"/>
                </a:lnTo>
                <a:cubicBezTo>
                  <a:pt x="58579" y="218678"/>
                  <a:pt x="50800" y="237411"/>
                  <a:pt x="50800" y="256858"/>
                </a:cubicBezTo>
                <a:cubicBezTo>
                  <a:pt x="50800" y="297418"/>
                  <a:pt x="83661" y="330279"/>
                  <a:pt x="124222" y="330279"/>
                </a:cubicBezTo>
                <a:cubicBezTo>
                  <a:pt x="137319" y="330279"/>
                  <a:pt x="150098" y="326787"/>
                  <a:pt x="161290" y="320278"/>
                </a:cubicBezTo>
                <a:cubicBezTo>
                  <a:pt x="173831" y="332978"/>
                  <a:pt x="188436" y="343614"/>
                  <a:pt x="204629" y="351631"/>
                </a:cubicBezTo>
                <a:cubicBezTo>
                  <a:pt x="182245" y="370602"/>
                  <a:pt x="153829" y="381159"/>
                  <a:pt x="124222" y="381159"/>
                </a:cubicBezTo>
                <a:cubicBezTo>
                  <a:pt x="55642" y="381159"/>
                  <a:pt x="0" y="325596"/>
                  <a:pt x="0" y="256937"/>
                </a:cubicBezTo>
                <a:cubicBezTo>
                  <a:pt x="0" y="223996"/>
                  <a:pt x="13097" y="192405"/>
                  <a:pt x="36354" y="169148"/>
                </a:cubicBezTo>
                <a:lnTo>
                  <a:pt x="92789" y="112713"/>
                </a:lnTo>
                <a:cubicBezTo>
                  <a:pt x="116046" y="89456"/>
                  <a:pt x="147638" y="76359"/>
                  <a:pt x="180578" y="76359"/>
                </a:cubicBezTo>
                <a:cubicBezTo>
                  <a:pt x="249317" y="76359"/>
                  <a:pt x="304800" y="132398"/>
                  <a:pt x="304800" y="200898"/>
                </a:cubicBezTo>
                <a:cubicBezTo>
                  <a:pt x="304800" y="201930"/>
                  <a:pt x="304800" y="202962"/>
                  <a:pt x="304800" y="203994"/>
                </a:cubicBezTo>
                <a:cubicBezTo>
                  <a:pt x="304483" y="218043"/>
                  <a:pt x="292814" y="229076"/>
                  <a:pt x="278765" y="228759"/>
                </a:cubicBezTo>
                <a:cubicBezTo>
                  <a:pt x="264716" y="228441"/>
                  <a:pt x="253682" y="216773"/>
                  <a:pt x="254000" y="202724"/>
                </a:cubicBezTo>
                <a:cubicBezTo>
                  <a:pt x="254000" y="202089"/>
                  <a:pt x="254000" y="201533"/>
                  <a:pt x="254000" y="200898"/>
                </a:cubicBezTo>
                <a:cubicBezTo>
                  <a:pt x="254000" y="174149"/>
                  <a:pt x="239713" y="150654"/>
                  <a:pt x="218440" y="137716"/>
                </a:cubicBezTo>
                <a:close/>
              </a:path>
            </a:pathLst>
          </a:custGeom>
          <a:solidFill>
            <a:srgbClr val="6BA84B"/>
          </a:solidFill>
          <a:ln/>
        </p:spPr>
      </p:sp>
      <p:sp>
        <p:nvSpPr>
          <p:cNvPr id="17" name="Text 15"/>
          <p:cNvSpPr/>
          <p:nvPr/>
        </p:nvSpPr>
        <p:spPr>
          <a:xfrm>
            <a:off x="9207500" y="3556000"/>
            <a:ext cx="6032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6BA8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Enrollment Management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JOIN queries combining student and course data for rich displays.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5461000"/>
            <a:ext cx="14732000" cy="1270000"/>
          </a:xfrm>
          <a:prstGeom prst="roundRect">
            <a:avLst>
              <a:gd name="adj" fmla="val 8000"/>
            </a:avLst>
          </a:prstGeom>
          <a:solidFill>
            <a:srgbClr val="6BA84B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7600" y="5842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45666" y="-15002"/>
                </a:moveTo>
                <a:cubicBezTo>
                  <a:pt x="242411" y="-21352"/>
                  <a:pt x="235823" y="-25400"/>
                  <a:pt x="228679" y="-25400"/>
                </a:cubicBezTo>
                <a:cubicBezTo>
                  <a:pt x="221536" y="-25400"/>
                  <a:pt x="214948" y="-21352"/>
                  <a:pt x="211693" y="-15002"/>
                </a:cubicBezTo>
                <a:lnTo>
                  <a:pt x="153273" y="99457"/>
                </a:lnTo>
                <a:lnTo>
                  <a:pt x="26353" y="119618"/>
                </a:lnTo>
                <a:cubicBezTo>
                  <a:pt x="19288" y="120729"/>
                  <a:pt x="13414" y="125730"/>
                  <a:pt x="11192" y="132556"/>
                </a:cubicBezTo>
                <a:cubicBezTo>
                  <a:pt x="8969" y="139383"/>
                  <a:pt x="10795" y="146844"/>
                  <a:pt x="15796" y="151924"/>
                </a:cubicBezTo>
                <a:lnTo>
                  <a:pt x="106601" y="242808"/>
                </a:lnTo>
                <a:lnTo>
                  <a:pt x="86598" y="369729"/>
                </a:lnTo>
                <a:cubicBezTo>
                  <a:pt x="85487" y="376793"/>
                  <a:pt x="88424" y="383937"/>
                  <a:pt x="94218" y="388144"/>
                </a:cubicBezTo>
                <a:cubicBezTo>
                  <a:pt x="100013" y="392351"/>
                  <a:pt x="107633" y="392986"/>
                  <a:pt x="114062" y="389731"/>
                </a:cubicBezTo>
                <a:lnTo>
                  <a:pt x="228679" y="331470"/>
                </a:lnTo>
                <a:lnTo>
                  <a:pt x="343218" y="389731"/>
                </a:lnTo>
                <a:cubicBezTo>
                  <a:pt x="349568" y="392986"/>
                  <a:pt x="357267" y="392351"/>
                  <a:pt x="363061" y="388144"/>
                </a:cubicBezTo>
                <a:cubicBezTo>
                  <a:pt x="368856" y="383937"/>
                  <a:pt x="371793" y="376873"/>
                  <a:pt x="370681" y="369729"/>
                </a:cubicBezTo>
                <a:lnTo>
                  <a:pt x="350599" y="242808"/>
                </a:lnTo>
                <a:lnTo>
                  <a:pt x="441404" y="151924"/>
                </a:lnTo>
                <a:cubicBezTo>
                  <a:pt x="446484" y="146844"/>
                  <a:pt x="448231" y="139383"/>
                  <a:pt x="446008" y="132556"/>
                </a:cubicBezTo>
                <a:cubicBezTo>
                  <a:pt x="443786" y="125730"/>
                  <a:pt x="437991" y="120729"/>
                  <a:pt x="430847" y="119618"/>
                </a:cubicBezTo>
                <a:lnTo>
                  <a:pt x="304006" y="99457"/>
                </a:lnTo>
                <a:lnTo>
                  <a:pt x="245666" y="-15002"/>
                </a:lnTo>
                <a:close/>
              </a:path>
            </a:pathLst>
          </a:custGeom>
          <a:solidFill>
            <a:srgbClr val="F4D06F"/>
          </a:solidFill>
          <a:ln/>
        </p:spPr>
      </p:sp>
      <p:sp>
        <p:nvSpPr>
          <p:cNvPr id="20" name="Text 18"/>
          <p:cNvSpPr/>
          <p:nvPr/>
        </p:nvSpPr>
        <p:spPr>
          <a:xfrm>
            <a:off x="1778000" y="5588000"/>
            <a:ext cx="1346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Goal:</a:t>
            </a:r>
            <a:pPr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Make student and course management simple, secure, and efficient for educational use.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-1016000" y="-762000"/>
            <a:ext cx="1651000" cy="1397000"/>
          </a:xfrm>
          <a:prstGeom prst="ellipse">
            <a:avLst/>
          </a:prstGeom>
          <a:solidFill>
            <a:srgbClr val="6BA84B"/>
          </a:solidFill>
          <a:ln/>
        </p:spPr>
      </p:sp>
      <p:sp>
        <p:nvSpPr>
          <p:cNvPr id="3" name="Shape 1"/>
          <p:cNvSpPr/>
          <p:nvPr/>
        </p:nvSpPr>
        <p:spPr>
          <a:xfrm rot="1500000">
            <a:off x="15748000" y="8382000"/>
            <a:ext cx="1270000" cy="1270000"/>
          </a:xfrm>
          <a:prstGeom prst="ellipse">
            <a:avLst/>
          </a:prstGeom>
          <a:solidFill>
            <a:srgbClr val="E87A9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508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Main Classes &amp; Relationships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244600"/>
            <a:ext cx="1270000" cy="0"/>
          </a:xfrm>
          <a:prstGeom prst="straightConnector1">
            <a:avLst/>
          </a:prstGeom>
          <a:noFill/>
          <a:ln w="38100">
            <a:solidFill>
              <a:srgbClr val="E87A9A"/>
            </a:solidFill>
            <a:prstDash val="solid"/>
            <a:headEnd type="none"/>
            <a:tailEnd type="none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8890000" cy="5334000"/>
        </p:xfrm>
        <a:graphic>
          <a:graphicData uri="http://schemas.openxmlformats.org/drawingml/2006/table">
            <a:tbl>
              <a:tblPr/>
              <a:tblGrid>
                <a:gridCol w="3556000"/>
                <a:gridCol w="5334000"/>
              </a:tblGrid>
              <a:tr h="41030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A8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A84B"/>
                    </a:solidFill>
                  </a:tcPr>
                </a:tc>
              </a:tr>
              <a:tr h="4103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Person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Base class with common attributes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0"/>
                    </a:solidFill>
                  </a:tcPr>
                </a:tc>
              </a:tr>
              <a:tr h="4103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Extends Person; adds score and user 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</a:tr>
              <a:tr h="4103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Course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Stores course data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0"/>
                    </a:solidFill>
                  </a:tcPr>
                </a:tc>
              </a:tr>
              <a:tr h="4103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Enrollment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Links students to courses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</a:tr>
              <a:tr h="4103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Stores authentication credentials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0"/>
                    </a:solidFill>
                  </a:tcPr>
                </a:tc>
              </a:tr>
              <a:tr h="4103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StudentRepository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Interface for student CRUD operations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</a:tr>
              <a:tr h="4103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StudentRepositoryImpl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JDBC implementation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0"/>
                    </a:solidFill>
                  </a:tcPr>
                </a:tc>
              </a:tr>
              <a:tr h="4103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CourseRepository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Interface for course CRUD operations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</a:tr>
              <a:tr h="4103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CourseRepositoryImpl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JDBC implementation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0"/>
                    </a:solidFill>
                  </a:tcPr>
                </a:tc>
              </a:tr>
              <a:tr h="4103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EnrollmentRepository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Interface for enrollment management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</a:tr>
              <a:tr h="4103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EnrollmentRepositoryImpl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JDBC implementation with JOIN queries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0"/>
                    </a:solidFill>
                  </a:tcPr>
                </a:tc>
              </a:tr>
              <a:tr h="4103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AuthService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Authentication and role management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0160000" y="1524000"/>
            <a:ext cx="5334000" cy="5588000"/>
          </a:xfrm>
          <a:prstGeom prst="roundRect">
            <a:avLst>
              <a:gd name="adj" fmla="val 10000"/>
            </a:avLst>
          </a:prstGeom>
          <a:solidFill>
            <a:srgbClr val="E8F5E0"/>
          </a:solidFill>
          <a:ln/>
        </p:spPr>
      </p:sp>
      <p:sp>
        <p:nvSpPr>
          <p:cNvPr id="8" name="Text 5"/>
          <p:cNvSpPr/>
          <p:nvPr/>
        </p:nvSpPr>
        <p:spPr>
          <a:xfrm>
            <a:off x="10414000" y="17145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Class Relationships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922000" y="2540000"/>
            <a:ext cx="3810000" cy="635000"/>
          </a:xfrm>
          <a:prstGeom prst="roundRect">
            <a:avLst>
              <a:gd name="adj" fmla="val 10000"/>
            </a:avLst>
          </a:prstGeom>
          <a:solidFill>
            <a:srgbClr val="6BA84B"/>
          </a:solidFill>
          <a:ln/>
        </p:spPr>
      </p:sp>
      <p:sp>
        <p:nvSpPr>
          <p:cNvPr id="10" name="Text 7"/>
          <p:cNvSpPr/>
          <p:nvPr/>
        </p:nvSpPr>
        <p:spPr>
          <a:xfrm>
            <a:off x="10922000" y="2540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 (Base Class)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63500" y="3175000"/>
            <a:ext cx="0" cy="508000"/>
          </a:xfrm>
          <a:prstGeom prst="straightConnector1">
            <a:avLst/>
          </a:prstGeom>
          <a:noFill/>
          <a:ln w="25400">
            <a:solidFill>
              <a:srgbClr val="E87A9A"/>
            </a:solidFill>
            <a:prstDash val="solid"/>
            <a:headEnd type="none"/>
            <a:tailEnd type="arrow"/>
          </a:ln>
        </p:spPr>
      </p:sp>
      <p:sp>
        <p:nvSpPr>
          <p:cNvPr id="12" name="Text 9"/>
          <p:cNvSpPr/>
          <p:nvPr/>
        </p:nvSpPr>
        <p:spPr>
          <a:xfrm>
            <a:off x="12954000" y="32385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E87A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922000" y="3683000"/>
            <a:ext cx="3810000" cy="635000"/>
          </a:xfrm>
          <a:prstGeom prst="roundRect">
            <a:avLst>
              <a:gd name="adj" fmla="val 10000"/>
            </a:avLst>
          </a:prstGeom>
          <a:solidFill>
            <a:srgbClr val="E87A9A"/>
          </a:solidFill>
          <a:ln/>
        </p:spPr>
      </p:sp>
      <p:sp>
        <p:nvSpPr>
          <p:cNvPr id="14" name="Text 11"/>
          <p:cNvSpPr/>
          <p:nvPr/>
        </p:nvSpPr>
        <p:spPr>
          <a:xfrm>
            <a:off x="10922000" y="3683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(Child Class)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414000" y="46990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Repository Pattern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922000" y="5207000"/>
            <a:ext cx="3810000" cy="635000"/>
          </a:xfrm>
          <a:prstGeom prst="roundRect">
            <a:avLst>
              <a:gd name="adj" fmla="val 10000"/>
            </a:avLst>
          </a:prstGeom>
          <a:solidFill>
            <a:srgbClr val="6BA84B"/>
          </a:solidFill>
          <a:ln/>
        </p:spPr>
      </p:sp>
      <p:sp>
        <p:nvSpPr>
          <p:cNvPr id="17" name="Text 14"/>
          <p:cNvSpPr/>
          <p:nvPr/>
        </p:nvSpPr>
        <p:spPr>
          <a:xfrm>
            <a:off x="10922000" y="5207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Repository Interfaces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2763500" y="5842000"/>
            <a:ext cx="0" cy="508000"/>
          </a:xfrm>
          <a:prstGeom prst="straightConnector1">
            <a:avLst/>
          </a:prstGeom>
          <a:noFill/>
          <a:ln w="25400">
            <a:solidFill>
              <a:srgbClr val="E87A9A"/>
            </a:solidFill>
            <a:prstDash val="solid"/>
            <a:headEnd type="none"/>
            <a:tailEnd type="arrow"/>
          </a:ln>
        </p:spPr>
      </p:sp>
      <p:sp>
        <p:nvSpPr>
          <p:cNvPr id="19" name="Text 16"/>
          <p:cNvSpPr/>
          <p:nvPr/>
        </p:nvSpPr>
        <p:spPr>
          <a:xfrm>
            <a:off x="12954000" y="59055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E87A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922000" y="6350000"/>
            <a:ext cx="3810000" cy="635000"/>
          </a:xfrm>
          <a:prstGeom prst="roundRect">
            <a:avLst>
              <a:gd name="adj" fmla="val 10000"/>
            </a:avLst>
          </a:prstGeom>
          <a:solidFill>
            <a:srgbClr val="E87A9A"/>
          </a:solidFill>
          <a:ln/>
        </p:spPr>
      </p:sp>
      <p:sp>
        <p:nvSpPr>
          <p:cNvPr id="21" name="Text 18"/>
          <p:cNvSpPr/>
          <p:nvPr/>
        </p:nvSpPr>
        <p:spPr>
          <a:xfrm>
            <a:off x="10922000" y="6350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JDBC Implementations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-1016000" y="-762000"/>
            <a:ext cx="1651000" cy="1397000"/>
          </a:xfrm>
          <a:prstGeom prst="ellipse">
            <a:avLst/>
          </a:prstGeom>
          <a:solidFill>
            <a:srgbClr val="6BA84B"/>
          </a:solidFill>
          <a:ln/>
        </p:spPr>
      </p:sp>
      <p:sp>
        <p:nvSpPr>
          <p:cNvPr id="3" name="Shape 1"/>
          <p:cNvSpPr/>
          <p:nvPr/>
        </p:nvSpPr>
        <p:spPr>
          <a:xfrm rot="1500000">
            <a:off x="15748000" y="8382000"/>
            <a:ext cx="1270000" cy="1270000"/>
          </a:xfrm>
          <a:prstGeom prst="ellipse">
            <a:avLst/>
          </a:prstGeom>
          <a:solidFill>
            <a:srgbClr val="E87A9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OOP Principles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244600"/>
            <a:ext cx="1270000" cy="0"/>
          </a:xfrm>
          <a:prstGeom prst="straightConnector1">
            <a:avLst/>
          </a:prstGeom>
          <a:noFill/>
          <a:ln w="38100">
            <a:solidFill>
              <a:srgbClr val="E87A9A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651000"/>
            <a:ext cx="4699000" cy="2921000"/>
          </a:xfrm>
          <a:prstGeom prst="roundRect">
            <a:avLst>
              <a:gd name="adj" fmla="val 10000"/>
            </a:avLst>
          </a:prstGeom>
          <a:solidFill>
            <a:srgbClr val="E8F5E0"/>
          </a:solidFill>
          <a:ln/>
        </p:spPr>
      </p:sp>
      <p:sp>
        <p:nvSpPr>
          <p:cNvPr id="7" name="Shape 5"/>
          <p:cNvSpPr/>
          <p:nvPr/>
        </p:nvSpPr>
        <p:spPr>
          <a:xfrm>
            <a:off x="1073150" y="1905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14300" y="85725"/>
                </a:moveTo>
                <a:lnTo>
                  <a:pt x="114300" y="142875"/>
                </a:lnTo>
                <a:lnTo>
                  <a:pt x="228600" y="142875"/>
                </a:lnTo>
                <a:lnTo>
                  <a:pt x="228600" y="85725"/>
                </a:lnTo>
                <a:cubicBezTo>
                  <a:pt x="228600" y="54203"/>
                  <a:pt x="202972" y="28575"/>
                  <a:pt x="171450" y="28575"/>
                </a:cubicBezTo>
                <a:cubicBezTo>
                  <a:pt x="139928" y="28575"/>
                  <a:pt x="114300" y="54203"/>
                  <a:pt x="114300" y="85725"/>
                </a:cubicBezTo>
                <a:close/>
                <a:moveTo>
                  <a:pt x="57150" y="142875"/>
                </a:moveTo>
                <a:lnTo>
                  <a:pt x="57150" y="85725"/>
                </a:lnTo>
                <a:cubicBezTo>
                  <a:pt x="57150" y="22592"/>
                  <a:pt x="108317" y="-28575"/>
                  <a:pt x="171450" y="-28575"/>
                </a:cubicBezTo>
                <a:cubicBezTo>
                  <a:pt x="234583" y="-28575"/>
                  <a:pt x="285750" y="22592"/>
                  <a:pt x="285750" y="85725"/>
                </a:cubicBezTo>
                <a:lnTo>
                  <a:pt x="285750" y="142875"/>
                </a:lnTo>
                <a:cubicBezTo>
                  <a:pt x="317272" y="142875"/>
                  <a:pt x="342900" y="168503"/>
                  <a:pt x="342900" y="2000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200025"/>
                </a:lnTo>
                <a:cubicBezTo>
                  <a:pt x="0" y="168503"/>
                  <a:pt x="25628" y="142875"/>
                  <a:pt x="57150" y="142875"/>
                </a:cubicBezTo>
                <a:close/>
              </a:path>
            </a:pathLst>
          </a:custGeom>
          <a:solidFill>
            <a:srgbClr val="6BA84B"/>
          </a:solidFill>
          <a:ln/>
        </p:spPr>
      </p:sp>
      <p:sp>
        <p:nvSpPr>
          <p:cNvPr id="8" name="Text 6"/>
          <p:cNvSpPr/>
          <p:nvPr/>
        </p:nvSpPr>
        <p:spPr>
          <a:xfrm>
            <a:off x="1625600" y="19050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Encapsulation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5400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 fields with public getters and setters to protect data integrity and control access.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78500" y="1651000"/>
            <a:ext cx="4699000" cy="2921000"/>
          </a:xfrm>
          <a:prstGeom prst="roundRect">
            <a:avLst>
              <a:gd name="adj" fmla="val 10000"/>
            </a:avLst>
          </a:prstGeom>
          <a:solidFill>
            <a:srgbClr val="FDE8EF"/>
          </a:solidFill>
          <a:ln/>
        </p:spPr>
      </p:sp>
      <p:sp>
        <p:nvSpPr>
          <p:cNvPr id="11" name="Shape 9"/>
          <p:cNvSpPr/>
          <p:nvPr/>
        </p:nvSpPr>
        <p:spPr>
          <a:xfrm>
            <a:off x="6032500" y="190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57150"/>
                </a:moveTo>
                <a:cubicBezTo>
                  <a:pt x="171450" y="41344"/>
                  <a:pt x="184219" y="28575"/>
                  <a:pt x="200025" y="28575"/>
                </a:cubicBezTo>
                <a:lnTo>
                  <a:pt x="257175" y="28575"/>
                </a:lnTo>
                <a:cubicBezTo>
                  <a:pt x="272981" y="28575"/>
                  <a:pt x="285750" y="41344"/>
                  <a:pt x="285750" y="57150"/>
                </a:cubicBezTo>
                <a:lnTo>
                  <a:pt x="285750" y="114300"/>
                </a:lnTo>
                <a:cubicBezTo>
                  <a:pt x="285750" y="130106"/>
                  <a:pt x="272981" y="142875"/>
                  <a:pt x="257175" y="142875"/>
                </a:cubicBezTo>
                <a:lnTo>
                  <a:pt x="250031" y="142875"/>
                </a:lnTo>
                <a:lnTo>
                  <a:pt x="250031" y="200025"/>
                </a:lnTo>
                <a:lnTo>
                  <a:pt x="357188" y="200025"/>
                </a:lnTo>
                <a:cubicBezTo>
                  <a:pt x="392728" y="200025"/>
                  <a:pt x="421481" y="228779"/>
                  <a:pt x="421481" y="264319"/>
                </a:cubicBezTo>
                <a:lnTo>
                  <a:pt x="421481" y="314325"/>
                </a:lnTo>
                <a:lnTo>
                  <a:pt x="428625" y="314325"/>
                </a:lnTo>
                <a:cubicBezTo>
                  <a:pt x="444431" y="314325"/>
                  <a:pt x="457200" y="327094"/>
                  <a:pt x="457200" y="342900"/>
                </a:cubicBezTo>
                <a:lnTo>
                  <a:pt x="457200" y="400050"/>
                </a:lnTo>
                <a:cubicBezTo>
                  <a:pt x="457200" y="415856"/>
                  <a:pt x="444431" y="428625"/>
                  <a:pt x="428625" y="428625"/>
                </a:cubicBezTo>
                <a:lnTo>
                  <a:pt x="371475" y="428625"/>
                </a:lnTo>
                <a:cubicBezTo>
                  <a:pt x="355669" y="428625"/>
                  <a:pt x="342900" y="415856"/>
                  <a:pt x="342900" y="400050"/>
                </a:cubicBezTo>
                <a:lnTo>
                  <a:pt x="342900" y="342900"/>
                </a:lnTo>
                <a:cubicBezTo>
                  <a:pt x="342900" y="327094"/>
                  <a:pt x="355669" y="314325"/>
                  <a:pt x="371475" y="314325"/>
                </a:cubicBezTo>
                <a:lnTo>
                  <a:pt x="378619" y="314325"/>
                </a:lnTo>
                <a:lnTo>
                  <a:pt x="378619" y="264319"/>
                </a:lnTo>
                <a:cubicBezTo>
                  <a:pt x="378619" y="252442"/>
                  <a:pt x="369064" y="242888"/>
                  <a:pt x="357188" y="242888"/>
                </a:cubicBezTo>
                <a:lnTo>
                  <a:pt x="250031" y="242888"/>
                </a:lnTo>
                <a:lnTo>
                  <a:pt x="250031" y="314325"/>
                </a:lnTo>
                <a:lnTo>
                  <a:pt x="257175" y="314325"/>
                </a:lnTo>
                <a:cubicBezTo>
                  <a:pt x="272981" y="314325"/>
                  <a:pt x="285750" y="327094"/>
                  <a:pt x="285750" y="342900"/>
                </a:cubicBezTo>
                <a:lnTo>
                  <a:pt x="285750" y="400050"/>
                </a:lnTo>
                <a:cubicBezTo>
                  <a:pt x="285750" y="415856"/>
                  <a:pt x="272981" y="428625"/>
                  <a:pt x="257175" y="428625"/>
                </a:cubicBezTo>
                <a:lnTo>
                  <a:pt x="200025" y="428625"/>
                </a:lnTo>
                <a:cubicBezTo>
                  <a:pt x="184219" y="428625"/>
                  <a:pt x="171450" y="415856"/>
                  <a:pt x="171450" y="400050"/>
                </a:cubicBezTo>
                <a:lnTo>
                  <a:pt x="171450" y="342900"/>
                </a:lnTo>
                <a:cubicBezTo>
                  <a:pt x="171450" y="327094"/>
                  <a:pt x="184219" y="314325"/>
                  <a:pt x="200025" y="314325"/>
                </a:cubicBezTo>
                <a:lnTo>
                  <a:pt x="207169" y="314325"/>
                </a:lnTo>
                <a:lnTo>
                  <a:pt x="207169" y="242888"/>
                </a:lnTo>
                <a:lnTo>
                  <a:pt x="100013" y="242888"/>
                </a:lnTo>
                <a:cubicBezTo>
                  <a:pt x="88136" y="242888"/>
                  <a:pt x="78581" y="252442"/>
                  <a:pt x="78581" y="264319"/>
                </a:cubicBezTo>
                <a:lnTo>
                  <a:pt x="78581" y="314325"/>
                </a:lnTo>
                <a:lnTo>
                  <a:pt x="85725" y="314325"/>
                </a:lnTo>
                <a:cubicBezTo>
                  <a:pt x="101531" y="314325"/>
                  <a:pt x="114300" y="327094"/>
                  <a:pt x="114300" y="342900"/>
                </a:cubicBezTo>
                <a:lnTo>
                  <a:pt x="114300" y="400050"/>
                </a:lnTo>
                <a:cubicBezTo>
                  <a:pt x="114300" y="415856"/>
                  <a:pt x="101531" y="428625"/>
                  <a:pt x="8572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42900"/>
                </a:lnTo>
                <a:cubicBezTo>
                  <a:pt x="0" y="327094"/>
                  <a:pt x="12769" y="314325"/>
                  <a:pt x="28575" y="314325"/>
                </a:cubicBezTo>
                <a:lnTo>
                  <a:pt x="35719" y="314325"/>
                </a:lnTo>
                <a:lnTo>
                  <a:pt x="35719" y="264319"/>
                </a:lnTo>
                <a:cubicBezTo>
                  <a:pt x="35719" y="228779"/>
                  <a:pt x="64472" y="200025"/>
                  <a:pt x="100013" y="200025"/>
                </a:cubicBezTo>
                <a:lnTo>
                  <a:pt x="207169" y="200025"/>
                </a:lnTo>
                <a:lnTo>
                  <a:pt x="207169" y="142875"/>
                </a:lnTo>
                <a:lnTo>
                  <a:pt x="200025" y="142875"/>
                </a:lnTo>
                <a:cubicBezTo>
                  <a:pt x="184219" y="142875"/>
                  <a:pt x="171450" y="130106"/>
                  <a:pt x="171450" y="114300"/>
                </a:cubicBezTo>
                <a:lnTo>
                  <a:pt x="171450" y="57150"/>
                </a:lnTo>
                <a:close/>
              </a:path>
            </a:pathLst>
          </a:custGeom>
          <a:solidFill>
            <a:srgbClr val="E87A9A"/>
          </a:solidFill>
          <a:ln/>
        </p:spPr>
      </p:sp>
      <p:sp>
        <p:nvSpPr>
          <p:cNvPr id="12" name="Text 10"/>
          <p:cNvSpPr/>
          <p:nvPr/>
        </p:nvSpPr>
        <p:spPr>
          <a:xfrm>
            <a:off x="6642100" y="19050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E87A9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Inheritance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25400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 extends Person base class, promoting code reuse and establishing a clear hierarchy.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795000" y="1651000"/>
            <a:ext cx="4699000" cy="2921000"/>
          </a:xfrm>
          <a:prstGeom prst="roundRect">
            <a:avLst>
              <a:gd name="adj" fmla="val 10000"/>
            </a:avLst>
          </a:prstGeom>
          <a:solidFill>
            <a:srgbClr val="E8F5E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49000" y="190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0581" y="30718"/>
                </a:moveTo>
                <a:cubicBezTo>
                  <a:pt x="371296" y="26253"/>
                  <a:pt x="383530" y="28754"/>
                  <a:pt x="391745" y="36880"/>
                </a:cubicBezTo>
                <a:lnTo>
                  <a:pt x="448895" y="94030"/>
                </a:lnTo>
                <a:cubicBezTo>
                  <a:pt x="454253" y="99387"/>
                  <a:pt x="457289" y="106620"/>
                  <a:pt x="457289" y="114211"/>
                </a:cubicBezTo>
                <a:cubicBezTo>
                  <a:pt x="457289" y="121801"/>
                  <a:pt x="454253" y="129034"/>
                  <a:pt x="448895" y="134392"/>
                </a:cubicBezTo>
                <a:lnTo>
                  <a:pt x="391745" y="191542"/>
                </a:lnTo>
                <a:cubicBezTo>
                  <a:pt x="383530" y="199757"/>
                  <a:pt x="371296" y="202168"/>
                  <a:pt x="360581" y="197703"/>
                </a:cubicBezTo>
                <a:cubicBezTo>
                  <a:pt x="349865" y="193238"/>
                  <a:pt x="342900" y="182969"/>
                  <a:pt x="342900" y="171450"/>
                </a:cubicBezTo>
                <a:lnTo>
                  <a:pt x="342900" y="142875"/>
                </a:lnTo>
                <a:lnTo>
                  <a:pt x="314325" y="142875"/>
                </a:lnTo>
                <a:cubicBezTo>
                  <a:pt x="305306" y="142875"/>
                  <a:pt x="296823" y="147072"/>
                  <a:pt x="291465" y="154305"/>
                </a:cubicBezTo>
                <a:lnTo>
                  <a:pt x="262533" y="192881"/>
                </a:lnTo>
                <a:lnTo>
                  <a:pt x="226814" y="145286"/>
                </a:lnTo>
                <a:lnTo>
                  <a:pt x="245745" y="120015"/>
                </a:lnTo>
                <a:cubicBezTo>
                  <a:pt x="261908" y="98405"/>
                  <a:pt x="287357" y="85725"/>
                  <a:pt x="314325" y="85725"/>
                </a:cubicBezTo>
                <a:lnTo>
                  <a:pt x="342900" y="85725"/>
                </a:lnTo>
                <a:lnTo>
                  <a:pt x="342900" y="57150"/>
                </a:lnTo>
                <a:cubicBezTo>
                  <a:pt x="342900" y="45631"/>
                  <a:pt x="349865" y="35183"/>
                  <a:pt x="360581" y="30718"/>
                </a:cubicBezTo>
                <a:close/>
                <a:moveTo>
                  <a:pt x="137517" y="264319"/>
                </a:moveTo>
                <a:lnTo>
                  <a:pt x="173236" y="311914"/>
                </a:lnTo>
                <a:lnTo>
                  <a:pt x="154305" y="337185"/>
                </a:lnTo>
                <a:cubicBezTo>
                  <a:pt x="138142" y="358795"/>
                  <a:pt x="112693" y="371475"/>
                  <a:pt x="85725" y="371475"/>
                </a:cubicBezTo>
                <a:lnTo>
                  <a:pt x="28575" y="371475"/>
                </a:lnTo>
                <a:cubicBezTo>
                  <a:pt x="12769" y="371475"/>
                  <a:pt x="0" y="358706"/>
                  <a:pt x="0" y="342900"/>
                </a:cubicBezTo>
                <a:cubicBezTo>
                  <a:pt x="0" y="327094"/>
                  <a:pt x="12769" y="314325"/>
                  <a:pt x="28575" y="314325"/>
                </a:cubicBezTo>
                <a:lnTo>
                  <a:pt x="85725" y="314325"/>
                </a:lnTo>
                <a:cubicBezTo>
                  <a:pt x="94744" y="314325"/>
                  <a:pt x="103227" y="310128"/>
                  <a:pt x="108585" y="302895"/>
                </a:cubicBezTo>
                <a:lnTo>
                  <a:pt x="137517" y="264319"/>
                </a:lnTo>
                <a:close/>
                <a:moveTo>
                  <a:pt x="391656" y="420231"/>
                </a:moveTo>
                <a:cubicBezTo>
                  <a:pt x="383441" y="428446"/>
                  <a:pt x="371207" y="430857"/>
                  <a:pt x="360491" y="426393"/>
                </a:cubicBezTo>
                <a:cubicBezTo>
                  <a:pt x="349776" y="421928"/>
                  <a:pt x="342900" y="411569"/>
                  <a:pt x="342900" y="400050"/>
                </a:cubicBezTo>
                <a:lnTo>
                  <a:pt x="342900" y="371475"/>
                </a:lnTo>
                <a:lnTo>
                  <a:pt x="314325" y="371475"/>
                </a:lnTo>
                <a:cubicBezTo>
                  <a:pt x="287357" y="371475"/>
                  <a:pt x="261908" y="358795"/>
                  <a:pt x="245745" y="337185"/>
                </a:cubicBezTo>
                <a:lnTo>
                  <a:pt x="108585" y="154305"/>
                </a:lnTo>
                <a:cubicBezTo>
                  <a:pt x="103227" y="147072"/>
                  <a:pt x="94744" y="142875"/>
                  <a:pt x="85725" y="142875"/>
                </a:cubicBez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85725" y="85725"/>
                </a:lnTo>
                <a:cubicBezTo>
                  <a:pt x="112693" y="85725"/>
                  <a:pt x="138142" y="98405"/>
                  <a:pt x="154305" y="120015"/>
                </a:cubicBezTo>
                <a:lnTo>
                  <a:pt x="291465" y="302895"/>
                </a:lnTo>
                <a:cubicBezTo>
                  <a:pt x="296823" y="310128"/>
                  <a:pt x="305306" y="314325"/>
                  <a:pt x="314325" y="314325"/>
                </a:cubicBezTo>
                <a:lnTo>
                  <a:pt x="342900" y="314325"/>
                </a:lnTo>
                <a:lnTo>
                  <a:pt x="342900" y="285750"/>
                </a:lnTo>
                <a:cubicBezTo>
                  <a:pt x="342900" y="274231"/>
                  <a:pt x="349865" y="263783"/>
                  <a:pt x="360581" y="259318"/>
                </a:cubicBezTo>
                <a:cubicBezTo>
                  <a:pt x="371296" y="254853"/>
                  <a:pt x="383530" y="257354"/>
                  <a:pt x="391745" y="265480"/>
                </a:cubicBezTo>
                <a:lnTo>
                  <a:pt x="448895" y="322630"/>
                </a:lnTo>
                <a:cubicBezTo>
                  <a:pt x="454253" y="327987"/>
                  <a:pt x="457289" y="335220"/>
                  <a:pt x="457289" y="342811"/>
                </a:cubicBezTo>
                <a:cubicBezTo>
                  <a:pt x="457289" y="350401"/>
                  <a:pt x="454253" y="357634"/>
                  <a:pt x="448895" y="362992"/>
                </a:cubicBezTo>
                <a:lnTo>
                  <a:pt x="391745" y="420142"/>
                </a:lnTo>
                <a:close/>
              </a:path>
            </a:pathLst>
          </a:custGeom>
          <a:solidFill>
            <a:srgbClr val="6BA84B"/>
          </a:solidFill>
          <a:ln/>
        </p:spPr>
      </p:sp>
      <p:sp>
        <p:nvSpPr>
          <p:cNvPr id="16" name="Text 14"/>
          <p:cNvSpPr/>
          <p:nvPr/>
        </p:nvSpPr>
        <p:spPr>
          <a:xfrm>
            <a:off x="11658600" y="19050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Polymorphism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0" y="25400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Repository interfaces allow different storage implementations to be swapped seamlessly.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5080000"/>
            <a:ext cx="14732000" cy="1270000"/>
          </a:xfrm>
          <a:prstGeom prst="roundRect">
            <a:avLst>
              <a:gd name="adj" fmla="val 8000"/>
            </a:avLst>
          </a:prstGeom>
          <a:solidFill>
            <a:srgbClr val="6BA84B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546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F4D06F"/>
          </a:solidFill>
          <a:ln/>
        </p:spPr>
      </p:sp>
      <p:sp>
        <p:nvSpPr>
          <p:cNvPr id="20" name="Text 18"/>
          <p:cNvSpPr/>
          <p:nvPr/>
        </p:nvSpPr>
        <p:spPr>
          <a:xfrm>
            <a:off x="1778000" y="5207000"/>
            <a:ext cx="1346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Clean, modular OOP structure for maintainability and future extension.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-1016000" y="-762000"/>
            <a:ext cx="1651000" cy="1397000"/>
          </a:xfrm>
          <a:prstGeom prst="ellipse">
            <a:avLst/>
          </a:prstGeom>
          <a:solidFill>
            <a:srgbClr val="6BA84B"/>
          </a:solidFill>
          <a:ln/>
        </p:spPr>
      </p:sp>
      <p:sp>
        <p:nvSpPr>
          <p:cNvPr id="3" name="Shape 1"/>
          <p:cNvSpPr/>
          <p:nvPr/>
        </p:nvSpPr>
        <p:spPr>
          <a:xfrm rot="1500000">
            <a:off x="15748000" y="8382000"/>
            <a:ext cx="1270000" cy="1270000"/>
          </a:xfrm>
          <a:prstGeom prst="ellipse">
            <a:avLst/>
          </a:prstGeom>
          <a:solidFill>
            <a:srgbClr val="E87A9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Database &amp; Data Handling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244600"/>
            <a:ext cx="1270000" cy="0"/>
          </a:xfrm>
          <a:prstGeom prst="straightConnector1">
            <a:avLst/>
          </a:prstGeom>
          <a:noFill/>
          <a:ln w="38100">
            <a:solidFill>
              <a:srgbClr val="E87A9A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SQLite Database (enrollment.db)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14732000" cy="2540000"/>
        </p:xfrm>
        <a:graphic>
          <a:graphicData uri="http://schemas.openxmlformats.org/drawingml/2006/table">
            <a:tbl>
              <a:tblPr/>
              <a:tblGrid>
                <a:gridCol w="2946400"/>
                <a:gridCol w="1178560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A8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Fields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A84B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id, first_name, last_name, email, score, user_id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0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courses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id, course_name, instructor_name, credits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enrollments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id, student_id, course_id, enrollment_date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2000" y="4762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Main Operations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5270500"/>
            <a:ext cx="7112000" cy="1016000"/>
          </a:xfrm>
          <a:prstGeom prst="roundRect">
            <a:avLst>
              <a:gd name="adj" fmla="val 10000"/>
            </a:avLst>
          </a:prstGeom>
          <a:solidFill>
            <a:srgbClr val="E8F5E0"/>
          </a:solidFill>
          <a:ln/>
        </p:spPr>
      </p:sp>
      <p:sp>
        <p:nvSpPr>
          <p:cNvPr id="10" name="Shape 7"/>
          <p:cNvSpPr/>
          <p:nvPr/>
        </p:nvSpPr>
        <p:spPr>
          <a:xfrm>
            <a:off x="993775" y="5524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6BA84B"/>
          </a:solidFill>
          <a:ln/>
        </p:spPr>
      </p:sp>
      <p:sp>
        <p:nvSpPr>
          <p:cNvPr id="11" name="Text 8"/>
          <p:cNvSpPr/>
          <p:nvPr/>
        </p:nvSpPr>
        <p:spPr>
          <a:xfrm>
            <a:off x="1524000" y="5334000"/>
            <a:ext cx="609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JDBC with PreparedStatement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SQL injection protection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382000" y="5270500"/>
            <a:ext cx="7112000" cy="1016000"/>
          </a:xfrm>
          <a:prstGeom prst="roundRect">
            <a:avLst>
              <a:gd name="adj" fmla="val 10000"/>
            </a:avLst>
          </a:prstGeom>
          <a:solidFill>
            <a:srgbClr val="FDE8EF"/>
          </a:solidFill>
          <a:ln/>
        </p:spPr>
      </p:sp>
      <p:sp>
        <p:nvSpPr>
          <p:cNvPr id="13" name="Shape 10"/>
          <p:cNvSpPr/>
          <p:nvPr/>
        </p:nvSpPr>
        <p:spPr>
          <a:xfrm>
            <a:off x="8658225" y="5524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-22225"/>
                </a:moveTo>
                <a:cubicBezTo>
                  <a:pt x="101193" y="-22225"/>
                  <a:pt x="111125" y="-12293"/>
                  <a:pt x="111125" y="0"/>
                </a:cubicBezTo>
                <a:lnTo>
                  <a:pt x="111125" y="66675"/>
                </a:lnTo>
                <a:lnTo>
                  <a:pt x="200025" y="66675"/>
                </a:lnTo>
                <a:lnTo>
                  <a:pt x="200025" y="0"/>
                </a:lnTo>
                <a:cubicBezTo>
                  <a:pt x="200025" y="-12293"/>
                  <a:pt x="209957" y="-22225"/>
                  <a:pt x="222250" y="-22225"/>
                </a:cubicBezTo>
                <a:cubicBezTo>
                  <a:pt x="234543" y="-22225"/>
                  <a:pt x="244475" y="-12293"/>
                  <a:pt x="244475" y="0"/>
                </a:cubicBezTo>
                <a:lnTo>
                  <a:pt x="244475" y="66675"/>
                </a:ln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cubicBezTo>
                  <a:pt x="311150" y="101193"/>
                  <a:pt x="301218" y="111125"/>
                  <a:pt x="288925" y="111125"/>
                </a:cubicBezTo>
                <a:lnTo>
                  <a:pt x="288925" y="155575"/>
                </a:lnTo>
                <a:cubicBezTo>
                  <a:pt x="288925" y="221625"/>
                  <a:pt x="240863" y="276493"/>
                  <a:pt x="177800" y="287050"/>
                </a:cubicBezTo>
                <a:lnTo>
                  <a:pt x="177800" y="333375"/>
                </a:lnTo>
                <a:cubicBezTo>
                  <a:pt x="177800" y="345668"/>
                  <a:pt x="167868" y="355600"/>
                  <a:pt x="155575" y="355600"/>
                </a:cubicBezTo>
                <a:cubicBezTo>
                  <a:pt x="143282" y="355600"/>
                  <a:pt x="133350" y="345668"/>
                  <a:pt x="133350" y="333375"/>
                </a:cubicBezTo>
                <a:lnTo>
                  <a:pt x="133350" y="287050"/>
                </a:lnTo>
                <a:cubicBezTo>
                  <a:pt x="70287" y="276493"/>
                  <a:pt x="22225" y="221625"/>
                  <a:pt x="22225" y="155575"/>
                </a:cubicBez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66675" y="66675"/>
                </a:lnTo>
                <a:lnTo>
                  <a:pt x="66675" y="0"/>
                </a:lnTo>
                <a:cubicBezTo>
                  <a:pt x="66675" y="-12293"/>
                  <a:pt x="76607" y="-22225"/>
                  <a:pt x="88900" y="-22225"/>
                </a:cubicBezTo>
                <a:close/>
              </a:path>
            </a:pathLst>
          </a:custGeom>
          <a:solidFill>
            <a:srgbClr val="E87A9A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0" y="5334000"/>
            <a:ext cx="609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Try-with-resources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Automatic connection management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62000" y="6477000"/>
            <a:ext cx="7112000" cy="1016000"/>
          </a:xfrm>
          <a:prstGeom prst="roundRect">
            <a:avLst>
              <a:gd name="adj" fmla="val 10000"/>
            </a:avLst>
          </a:prstGeom>
          <a:solidFill>
            <a:srgbClr val="FDE8EF"/>
          </a:solidFill>
          <a:ln/>
        </p:spPr>
      </p:sp>
      <p:sp>
        <p:nvSpPr>
          <p:cNvPr id="16" name="Shape 13"/>
          <p:cNvSpPr/>
          <p:nvPr/>
        </p:nvSpPr>
        <p:spPr>
          <a:xfrm>
            <a:off x="993775" y="6731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2225" y="82927"/>
                </a:moveTo>
                <a:cubicBezTo>
                  <a:pt x="8959" y="75287"/>
                  <a:pt x="0" y="60910"/>
                  <a:pt x="0" y="44450"/>
                </a:cubicBezTo>
                <a:cubicBezTo>
                  <a:pt x="0" y="19933"/>
                  <a:pt x="19933" y="0"/>
                  <a:pt x="44450" y="0"/>
                </a:cubicBezTo>
                <a:cubicBezTo>
                  <a:pt x="60910" y="0"/>
                  <a:pt x="75287" y="8959"/>
                  <a:pt x="82927" y="22225"/>
                </a:cubicBezTo>
                <a:lnTo>
                  <a:pt x="317054" y="22225"/>
                </a:lnTo>
                <a:cubicBezTo>
                  <a:pt x="324763" y="8959"/>
                  <a:pt x="339070" y="0"/>
                  <a:pt x="355531" y="0"/>
                </a:cubicBezTo>
                <a:cubicBezTo>
                  <a:pt x="380047" y="0"/>
                  <a:pt x="399981" y="19933"/>
                  <a:pt x="399981" y="44450"/>
                </a:cubicBezTo>
                <a:cubicBezTo>
                  <a:pt x="399981" y="60910"/>
                  <a:pt x="391021" y="75287"/>
                  <a:pt x="377756" y="82927"/>
                </a:cubicBezTo>
                <a:lnTo>
                  <a:pt x="377756" y="272604"/>
                </a:lnTo>
                <a:cubicBezTo>
                  <a:pt x="391021" y="280313"/>
                  <a:pt x="399981" y="294620"/>
                  <a:pt x="399981" y="311081"/>
                </a:cubicBezTo>
                <a:cubicBezTo>
                  <a:pt x="399981" y="335598"/>
                  <a:pt x="380047" y="355531"/>
                  <a:pt x="355531" y="355531"/>
                </a:cubicBezTo>
                <a:cubicBezTo>
                  <a:pt x="339070" y="355531"/>
                  <a:pt x="324693" y="346571"/>
                  <a:pt x="317054" y="333306"/>
                </a:cubicBezTo>
                <a:lnTo>
                  <a:pt x="82927" y="333306"/>
                </a:lnTo>
                <a:cubicBezTo>
                  <a:pt x="75218" y="346571"/>
                  <a:pt x="60910" y="355531"/>
                  <a:pt x="44450" y="355531"/>
                </a:cubicBezTo>
                <a:cubicBezTo>
                  <a:pt x="19933" y="355531"/>
                  <a:pt x="0" y="335598"/>
                  <a:pt x="0" y="311081"/>
                </a:cubicBezTo>
                <a:cubicBezTo>
                  <a:pt x="0" y="294620"/>
                  <a:pt x="8959" y="280243"/>
                  <a:pt x="22225" y="272604"/>
                </a:cubicBezTo>
                <a:lnTo>
                  <a:pt x="22225" y="82927"/>
                </a:lnTo>
                <a:close/>
                <a:moveTo>
                  <a:pt x="333375" y="82927"/>
                </a:moveTo>
                <a:cubicBezTo>
                  <a:pt x="326638" y="79038"/>
                  <a:pt x="321012" y="73412"/>
                  <a:pt x="317123" y="66675"/>
                </a:cubicBezTo>
                <a:lnTo>
                  <a:pt x="82927" y="66675"/>
                </a:lnTo>
                <a:cubicBezTo>
                  <a:pt x="79038" y="73412"/>
                  <a:pt x="73412" y="79038"/>
                  <a:pt x="66675" y="82927"/>
                </a:cubicBezTo>
                <a:lnTo>
                  <a:pt x="66675" y="272604"/>
                </a:lnTo>
                <a:cubicBezTo>
                  <a:pt x="73412" y="276493"/>
                  <a:pt x="79038" y="282119"/>
                  <a:pt x="82927" y="288856"/>
                </a:cubicBezTo>
                <a:lnTo>
                  <a:pt x="317054" y="288856"/>
                </a:lnTo>
                <a:cubicBezTo>
                  <a:pt x="320943" y="282119"/>
                  <a:pt x="326569" y="276493"/>
                  <a:pt x="333306" y="272604"/>
                </a:cubicBezTo>
                <a:lnTo>
                  <a:pt x="333306" y="82927"/>
                </a:lnTo>
                <a:close/>
                <a:moveTo>
                  <a:pt x="100013" y="122238"/>
                </a:moveTo>
                <a:cubicBezTo>
                  <a:pt x="100013" y="109944"/>
                  <a:pt x="109944" y="100013"/>
                  <a:pt x="122238" y="100013"/>
                </a:cubicBezTo>
                <a:lnTo>
                  <a:pt x="200025" y="100013"/>
                </a:lnTo>
                <a:cubicBezTo>
                  <a:pt x="212318" y="100013"/>
                  <a:pt x="222250" y="109944"/>
                  <a:pt x="222250" y="122238"/>
                </a:cubicBezTo>
                <a:lnTo>
                  <a:pt x="222250" y="166688"/>
                </a:lnTo>
                <a:cubicBezTo>
                  <a:pt x="222250" y="178981"/>
                  <a:pt x="212318" y="188913"/>
                  <a:pt x="200025" y="188913"/>
                </a:cubicBezTo>
                <a:lnTo>
                  <a:pt x="122238" y="188913"/>
                </a:lnTo>
                <a:cubicBezTo>
                  <a:pt x="109944" y="188913"/>
                  <a:pt x="100013" y="178981"/>
                  <a:pt x="100013" y="166688"/>
                </a:cubicBezTo>
                <a:lnTo>
                  <a:pt x="100013" y="122238"/>
                </a:lnTo>
                <a:close/>
                <a:moveTo>
                  <a:pt x="177800" y="222250"/>
                </a:moveTo>
                <a:lnTo>
                  <a:pt x="200025" y="222250"/>
                </a:lnTo>
                <a:cubicBezTo>
                  <a:pt x="230723" y="222250"/>
                  <a:pt x="255587" y="197386"/>
                  <a:pt x="255587" y="166688"/>
                </a:cubicBezTo>
                <a:lnTo>
                  <a:pt x="277813" y="166688"/>
                </a:lnTo>
                <a:cubicBezTo>
                  <a:pt x="290106" y="166688"/>
                  <a:pt x="300038" y="176619"/>
                  <a:pt x="300038" y="188913"/>
                </a:cubicBezTo>
                <a:lnTo>
                  <a:pt x="300038" y="233363"/>
                </a:lnTo>
                <a:cubicBezTo>
                  <a:pt x="300038" y="245656"/>
                  <a:pt x="290106" y="255587"/>
                  <a:pt x="277813" y="255587"/>
                </a:cubicBezTo>
                <a:lnTo>
                  <a:pt x="200025" y="255587"/>
                </a:lnTo>
                <a:cubicBezTo>
                  <a:pt x="187732" y="255587"/>
                  <a:pt x="177800" y="245656"/>
                  <a:pt x="177800" y="233363"/>
                </a:cubicBezTo>
                <a:lnTo>
                  <a:pt x="177800" y="222250"/>
                </a:lnTo>
                <a:close/>
              </a:path>
            </a:pathLst>
          </a:custGeom>
          <a:solidFill>
            <a:srgbClr val="E87A9A"/>
          </a:solidFill>
          <a:ln/>
        </p:spPr>
      </p:sp>
      <p:sp>
        <p:nvSpPr>
          <p:cNvPr id="17" name="Text 14"/>
          <p:cNvSpPr/>
          <p:nvPr/>
        </p:nvSpPr>
        <p:spPr>
          <a:xfrm>
            <a:off x="1524000" y="6540500"/>
            <a:ext cx="609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JOIN Queries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Combining data from multiple tables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382000" y="6477000"/>
            <a:ext cx="7112000" cy="1016000"/>
          </a:xfrm>
          <a:prstGeom prst="roundRect">
            <a:avLst>
              <a:gd name="adj" fmla="val 10000"/>
            </a:avLst>
          </a:prstGeom>
          <a:solidFill>
            <a:srgbClr val="E8F5E0"/>
          </a:solidFill>
          <a:ln/>
        </p:spPr>
      </p:sp>
      <p:sp>
        <p:nvSpPr>
          <p:cNvPr id="19" name="Shape 16"/>
          <p:cNvSpPr/>
          <p:nvPr/>
        </p:nvSpPr>
        <p:spPr>
          <a:xfrm>
            <a:off x="8613775" y="6731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67022" y="0"/>
                </a:moveTo>
                <a:cubicBezTo>
                  <a:pt x="42505" y="0"/>
                  <a:pt x="22572" y="19933"/>
                  <a:pt x="22572" y="44450"/>
                </a:cubicBezTo>
                <a:lnTo>
                  <a:pt x="22572" y="311150"/>
                </a:lnTo>
                <a:cubicBezTo>
                  <a:pt x="22572" y="335667"/>
                  <a:pt x="42505" y="355600"/>
                  <a:pt x="67022" y="355600"/>
                </a:cubicBezTo>
                <a:lnTo>
                  <a:pt x="244822" y="355600"/>
                </a:lnTo>
                <a:cubicBezTo>
                  <a:pt x="269339" y="355600"/>
                  <a:pt x="289272" y="335667"/>
                  <a:pt x="289272" y="311150"/>
                </a:cubicBezTo>
                <a:lnTo>
                  <a:pt x="289272" y="244475"/>
                </a:lnTo>
                <a:lnTo>
                  <a:pt x="343515" y="244475"/>
                </a:lnTo>
                <a:lnTo>
                  <a:pt x="321985" y="266005"/>
                </a:lnTo>
                <a:cubicBezTo>
                  <a:pt x="315456" y="272534"/>
                  <a:pt x="315456" y="283091"/>
                  <a:pt x="321985" y="289550"/>
                </a:cubicBezTo>
                <a:cubicBezTo>
                  <a:pt x="328513" y="296009"/>
                  <a:pt x="339070" y="296079"/>
                  <a:pt x="345529" y="289550"/>
                </a:cubicBezTo>
                <a:lnTo>
                  <a:pt x="395536" y="239544"/>
                </a:lnTo>
                <a:cubicBezTo>
                  <a:pt x="402064" y="233015"/>
                  <a:pt x="402064" y="222458"/>
                  <a:pt x="395536" y="215999"/>
                </a:cubicBezTo>
                <a:lnTo>
                  <a:pt x="345529" y="165993"/>
                </a:lnTo>
                <a:cubicBezTo>
                  <a:pt x="339001" y="159464"/>
                  <a:pt x="328444" y="159464"/>
                  <a:pt x="321985" y="165993"/>
                </a:cubicBezTo>
                <a:cubicBezTo>
                  <a:pt x="315526" y="172522"/>
                  <a:pt x="315456" y="183078"/>
                  <a:pt x="321985" y="189538"/>
                </a:cubicBezTo>
                <a:lnTo>
                  <a:pt x="343515" y="211068"/>
                </a:lnTo>
                <a:lnTo>
                  <a:pt x="289272" y="211068"/>
                </a:lnTo>
                <a:lnTo>
                  <a:pt x="289272" y="118348"/>
                </a:lnTo>
                <a:cubicBezTo>
                  <a:pt x="289272" y="106541"/>
                  <a:pt x="284619" y="95220"/>
                  <a:pt x="276285" y="86886"/>
                </a:cubicBezTo>
                <a:lnTo>
                  <a:pt x="202248" y="12988"/>
                </a:lnTo>
                <a:cubicBezTo>
                  <a:pt x="193913" y="4653"/>
                  <a:pt x="182662" y="0"/>
                  <a:pt x="170855" y="0"/>
                </a:cubicBezTo>
                <a:lnTo>
                  <a:pt x="67022" y="0"/>
                </a:lnTo>
                <a:close/>
                <a:moveTo>
                  <a:pt x="248642" y="122238"/>
                </a:moveTo>
                <a:lnTo>
                  <a:pt x="183704" y="122238"/>
                </a:lnTo>
                <a:cubicBezTo>
                  <a:pt x="174466" y="122238"/>
                  <a:pt x="167035" y="114806"/>
                  <a:pt x="167035" y="105569"/>
                </a:cubicBezTo>
                <a:lnTo>
                  <a:pt x="167035" y="40630"/>
                </a:lnTo>
                <a:lnTo>
                  <a:pt x="248642" y="122238"/>
                </a:lnTo>
                <a:close/>
                <a:moveTo>
                  <a:pt x="155922" y="227806"/>
                </a:moveTo>
                <a:cubicBezTo>
                  <a:pt x="155922" y="218569"/>
                  <a:pt x="163354" y="211138"/>
                  <a:pt x="172591" y="211138"/>
                </a:cubicBezTo>
                <a:lnTo>
                  <a:pt x="244822" y="211138"/>
                </a:lnTo>
                <a:lnTo>
                  <a:pt x="244822" y="244475"/>
                </a:lnTo>
                <a:lnTo>
                  <a:pt x="172591" y="244475"/>
                </a:lnTo>
                <a:cubicBezTo>
                  <a:pt x="163354" y="244475"/>
                  <a:pt x="155922" y="237044"/>
                  <a:pt x="155922" y="227806"/>
                </a:cubicBezTo>
                <a:close/>
              </a:path>
            </a:pathLst>
          </a:custGeom>
          <a:solidFill>
            <a:srgbClr val="6BA84B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0" y="6540500"/>
            <a:ext cx="609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CSV Import/Export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Reading and writing data to files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762000" y="7810500"/>
            <a:ext cx="14732000" cy="762000"/>
          </a:xfrm>
          <a:prstGeom prst="roundRect">
            <a:avLst>
              <a:gd name="adj" fmla="val 8000"/>
            </a:avLst>
          </a:prstGeom>
          <a:solidFill>
            <a:srgbClr val="6BA84B"/>
          </a:solidFill>
          <a:ln/>
        </p:spPr>
      </p:sp>
      <p:sp>
        <p:nvSpPr>
          <p:cNvPr id="22" name="Text 19"/>
          <p:cNvSpPr/>
          <p:nvPr/>
        </p:nvSpPr>
        <p:spPr>
          <a:xfrm>
            <a:off x="1016000" y="78105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Benefits: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Persistent • Secure • Portable • Maintainable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-1016000" y="-762000"/>
            <a:ext cx="1651000" cy="1397000"/>
          </a:xfrm>
          <a:prstGeom prst="ellipse">
            <a:avLst/>
          </a:prstGeom>
          <a:solidFill>
            <a:srgbClr val="6BA84B"/>
          </a:solidFill>
          <a:ln/>
        </p:spPr>
      </p:sp>
      <p:sp>
        <p:nvSpPr>
          <p:cNvPr id="3" name="Shape 1"/>
          <p:cNvSpPr/>
          <p:nvPr/>
        </p:nvSpPr>
        <p:spPr>
          <a:xfrm rot="1500000">
            <a:off x="15748000" y="8382000"/>
            <a:ext cx="1270000" cy="1270000"/>
          </a:xfrm>
          <a:prstGeom prst="ellipse">
            <a:avLst/>
          </a:prstGeom>
          <a:solidFill>
            <a:srgbClr val="E87A9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244600"/>
            <a:ext cx="1270000" cy="0"/>
          </a:xfrm>
          <a:prstGeom prst="straightConnector1">
            <a:avLst/>
          </a:prstGeom>
          <a:noFill/>
          <a:ln w="38100">
            <a:solidFill>
              <a:srgbClr val="E87A9A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1460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7A9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Development Challenges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460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Solutions Applied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1968500"/>
            <a:ext cx="7112000" cy="1016000"/>
          </a:xfrm>
          <a:prstGeom prst="roundRect">
            <a:avLst>
              <a:gd name="adj" fmla="val 10000"/>
            </a:avLst>
          </a:prstGeom>
          <a:solidFill>
            <a:srgbClr val="FDE8EF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2222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39700" y="74216"/>
                </a:moveTo>
                <a:cubicBezTo>
                  <a:pt x="146958" y="74216"/>
                  <a:pt x="152797" y="80055"/>
                  <a:pt x="152797" y="87313"/>
                </a:cubicBezTo>
                <a:lnTo>
                  <a:pt x="152797" y="148431"/>
                </a:lnTo>
                <a:cubicBezTo>
                  <a:pt x="152797" y="155689"/>
                  <a:pt x="146958" y="161528"/>
                  <a:pt x="139700" y="161528"/>
                </a:cubicBezTo>
                <a:cubicBezTo>
                  <a:pt x="132442" y="161528"/>
                  <a:pt x="126603" y="155689"/>
                  <a:pt x="126603" y="148431"/>
                </a:cubicBezTo>
                <a:lnTo>
                  <a:pt x="126603" y="87313"/>
                </a:lnTo>
                <a:cubicBezTo>
                  <a:pt x="126603" y="80055"/>
                  <a:pt x="132442" y="74216"/>
                  <a:pt x="139700" y="74216"/>
                </a:cubicBezTo>
                <a:close/>
                <a:moveTo>
                  <a:pt x="125130" y="192088"/>
                </a:moveTo>
                <a:cubicBezTo>
                  <a:pt x="124798" y="186679"/>
                  <a:pt x="127495" y="181534"/>
                  <a:pt x="132132" y="178729"/>
                </a:cubicBezTo>
                <a:cubicBezTo>
                  <a:pt x="136768" y="175925"/>
                  <a:pt x="142577" y="175925"/>
                  <a:pt x="147214" y="178729"/>
                </a:cubicBezTo>
                <a:cubicBezTo>
                  <a:pt x="151850" y="181534"/>
                  <a:pt x="154547" y="186679"/>
                  <a:pt x="154216" y="192087"/>
                </a:cubicBezTo>
                <a:cubicBezTo>
                  <a:pt x="154547" y="197496"/>
                  <a:pt x="151850" y="202641"/>
                  <a:pt x="147214" y="205446"/>
                </a:cubicBezTo>
                <a:cubicBezTo>
                  <a:pt x="142577" y="208250"/>
                  <a:pt x="136768" y="208250"/>
                  <a:pt x="132132" y="205446"/>
                </a:cubicBezTo>
                <a:cubicBezTo>
                  <a:pt x="127495" y="202641"/>
                  <a:pt x="124798" y="197496"/>
                  <a:pt x="125130" y="192088"/>
                </a:cubicBezTo>
                <a:close/>
              </a:path>
            </a:pathLst>
          </a:custGeom>
          <a:solidFill>
            <a:srgbClr val="E87A9A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22479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UI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Managing different menus for Teacher and Student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1968500"/>
            <a:ext cx="7112000" cy="1016000"/>
          </a:xfrm>
          <a:prstGeom prst="roundRect">
            <a:avLst>
              <a:gd name="adj" fmla="val 10000"/>
            </a:avLst>
          </a:prstGeom>
          <a:solidFill>
            <a:srgbClr val="E8F5E0"/>
          </a:solidFill>
          <a:ln/>
        </p:spPr>
      </p:sp>
      <p:sp>
        <p:nvSpPr>
          <p:cNvPr id="12" name="Shape 10"/>
          <p:cNvSpPr/>
          <p:nvPr/>
        </p:nvSpPr>
        <p:spPr>
          <a:xfrm>
            <a:off x="8589963" y="22225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6BA84B"/>
          </a:solidFill>
          <a:ln/>
        </p:spPr>
      </p:sp>
      <p:sp>
        <p:nvSpPr>
          <p:cNvPr id="13" name="Text 11"/>
          <p:cNvSpPr/>
          <p:nvPr/>
        </p:nvSpPr>
        <p:spPr>
          <a:xfrm>
            <a:off x="8953500" y="21844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Conditional Rendering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UI buttons based on isTeacher() / isStudent()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149600"/>
            <a:ext cx="7112000" cy="1016000"/>
          </a:xfrm>
          <a:prstGeom prst="roundRect">
            <a:avLst>
              <a:gd name="adj" fmla="val 10000"/>
            </a:avLst>
          </a:prstGeom>
          <a:solidFill>
            <a:srgbClr val="FDE8EF"/>
          </a:solidFill>
          <a:ln/>
        </p:spPr>
      </p:sp>
      <p:sp>
        <p:nvSpPr>
          <p:cNvPr id="15" name="Shape 13"/>
          <p:cNvSpPr/>
          <p:nvPr/>
        </p:nvSpPr>
        <p:spPr>
          <a:xfrm>
            <a:off x="952500" y="3403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39700" y="74216"/>
                </a:moveTo>
                <a:cubicBezTo>
                  <a:pt x="146958" y="74216"/>
                  <a:pt x="152797" y="80055"/>
                  <a:pt x="152797" y="87313"/>
                </a:cubicBezTo>
                <a:lnTo>
                  <a:pt x="152797" y="148431"/>
                </a:lnTo>
                <a:cubicBezTo>
                  <a:pt x="152797" y="155689"/>
                  <a:pt x="146958" y="161528"/>
                  <a:pt x="139700" y="161528"/>
                </a:cubicBezTo>
                <a:cubicBezTo>
                  <a:pt x="132442" y="161528"/>
                  <a:pt x="126603" y="155689"/>
                  <a:pt x="126603" y="148431"/>
                </a:cubicBezTo>
                <a:lnTo>
                  <a:pt x="126603" y="87313"/>
                </a:lnTo>
                <a:cubicBezTo>
                  <a:pt x="126603" y="80055"/>
                  <a:pt x="132442" y="74216"/>
                  <a:pt x="139700" y="74216"/>
                </a:cubicBezTo>
                <a:close/>
                <a:moveTo>
                  <a:pt x="125130" y="192088"/>
                </a:moveTo>
                <a:cubicBezTo>
                  <a:pt x="124798" y="186679"/>
                  <a:pt x="127495" y="181534"/>
                  <a:pt x="132132" y="178729"/>
                </a:cubicBezTo>
                <a:cubicBezTo>
                  <a:pt x="136768" y="175925"/>
                  <a:pt x="142577" y="175925"/>
                  <a:pt x="147214" y="178729"/>
                </a:cubicBezTo>
                <a:cubicBezTo>
                  <a:pt x="151850" y="181534"/>
                  <a:pt x="154547" y="186679"/>
                  <a:pt x="154216" y="192087"/>
                </a:cubicBezTo>
                <a:cubicBezTo>
                  <a:pt x="154547" y="197496"/>
                  <a:pt x="151850" y="202641"/>
                  <a:pt x="147214" y="205446"/>
                </a:cubicBezTo>
                <a:cubicBezTo>
                  <a:pt x="142577" y="208250"/>
                  <a:pt x="136768" y="208250"/>
                  <a:pt x="132132" y="205446"/>
                </a:cubicBezTo>
                <a:cubicBezTo>
                  <a:pt x="127495" y="202641"/>
                  <a:pt x="124798" y="197496"/>
                  <a:pt x="125130" y="192088"/>
                </a:cubicBezTo>
                <a:close/>
              </a:path>
            </a:pathLst>
          </a:custGeom>
          <a:solidFill>
            <a:srgbClr val="E87A9A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34290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Nullable Foreign Keys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Handling optional user_id in Student table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3149600"/>
            <a:ext cx="7112000" cy="1016000"/>
          </a:xfrm>
          <a:prstGeom prst="roundRect">
            <a:avLst>
              <a:gd name="adj" fmla="val 10000"/>
            </a:avLst>
          </a:prstGeom>
          <a:solidFill>
            <a:srgbClr val="E8F5E0"/>
          </a:solidFill>
          <a:ln/>
        </p:spPr>
      </p:sp>
      <p:sp>
        <p:nvSpPr>
          <p:cNvPr id="18" name="Shape 16"/>
          <p:cNvSpPr/>
          <p:nvPr/>
        </p:nvSpPr>
        <p:spPr>
          <a:xfrm>
            <a:off x="8589963" y="34036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6BA84B"/>
          </a:solidFill>
          <a:ln/>
        </p:spPr>
      </p:sp>
      <p:sp>
        <p:nvSpPr>
          <p:cNvPr id="19" name="Text 17"/>
          <p:cNvSpPr/>
          <p:nvPr/>
        </p:nvSpPr>
        <p:spPr>
          <a:xfrm>
            <a:off x="8953500" y="34290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wasNull() Check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Proper handling of nullable database fields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4330700"/>
            <a:ext cx="7112000" cy="1016000"/>
          </a:xfrm>
          <a:prstGeom prst="roundRect">
            <a:avLst>
              <a:gd name="adj" fmla="val 10000"/>
            </a:avLst>
          </a:prstGeom>
          <a:solidFill>
            <a:srgbClr val="FDE8EF"/>
          </a:solidFill>
          <a:ln/>
        </p:spPr>
      </p:sp>
      <p:sp>
        <p:nvSpPr>
          <p:cNvPr id="21" name="Shape 19"/>
          <p:cNvSpPr/>
          <p:nvPr/>
        </p:nvSpPr>
        <p:spPr>
          <a:xfrm>
            <a:off x="952500" y="45847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39700" y="74216"/>
                </a:moveTo>
                <a:cubicBezTo>
                  <a:pt x="146958" y="74216"/>
                  <a:pt x="152797" y="80055"/>
                  <a:pt x="152797" y="87313"/>
                </a:cubicBezTo>
                <a:lnTo>
                  <a:pt x="152797" y="148431"/>
                </a:lnTo>
                <a:cubicBezTo>
                  <a:pt x="152797" y="155689"/>
                  <a:pt x="146958" y="161528"/>
                  <a:pt x="139700" y="161528"/>
                </a:cubicBezTo>
                <a:cubicBezTo>
                  <a:pt x="132442" y="161528"/>
                  <a:pt x="126603" y="155689"/>
                  <a:pt x="126603" y="148431"/>
                </a:cubicBezTo>
                <a:lnTo>
                  <a:pt x="126603" y="87313"/>
                </a:lnTo>
                <a:cubicBezTo>
                  <a:pt x="126603" y="80055"/>
                  <a:pt x="132442" y="74216"/>
                  <a:pt x="139700" y="74216"/>
                </a:cubicBezTo>
                <a:close/>
                <a:moveTo>
                  <a:pt x="125130" y="192088"/>
                </a:moveTo>
                <a:cubicBezTo>
                  <a:pt x="124798" y="186679"/>
                  <a:pt x="127495" y="181534"/>
                  <a:pt x="132132" y="178729"/>
                </a:cubicBezTo>
                <a:cubicBezTo>
                  <a:pt x="136768" y="175925"/>
                  <a:pt x="142577" y="175925"/>
                  <a:pt x="147214" y="178729"/>
                </a:cubicBezTo>
                <a:cubicBezTo>
                  <a:pt x="151850" y="181534"/>
                  <a:pt x="154547" y="186679"/>
                  <a:pt x="154216" y="192087"/>
                </a:cubicBezTo>
                <a:cubicBezTo>
                  <a:pt x="154547" y="197496"/>
                  <a:pt x="151850" y="202641"/>
                  <a:pt x="147214" y="205446"/>
                </a:cubicBezTo>
                <a:cubicBezTo>
                  <a:pt x="142577" y="208250"/>
                  <a:pt x="136768" y="208250"/>
                  <a:pt x="132132" y="205446"/>
                </a:cubicBezTo>
                <a:cubicBezTo>
                  <a:pt x="127495" y="202641"/>
                  <a:pt x="124798" y="197496"/>
                  <a:pt x="125130" y="192088"/>
                </a:cubicBezTo>
                <a:close/>
              </a:path>
            </a:pathLst>
          </a:custGeom>
          <a:solidFill>
            <a:srgbClr val="E87A9A"/>
          </a:solidFill>
          <a:ln/>
        </p:spPr>
      </p:sp>
      <p:sp>
        <p:nvSpPr>
          <p:cNvPr id="22" name="Text 20"/>
          <p:cNvSpPr/>
          <p:nvPr/>
        </p:nvSpPr>
        <p:spPr>
          <a:xfrm>
            <a:off x="1333500" y="45466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 Queries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Combining data from three tables for enrollment display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82000" y="4330700"/>
            <a:ext cx="7112000" cy="1016000"/>
          </a:xfrm>
          <a:prstGeom prst="roundRect">
            <a:avLst>
              <a:gd name="adj" fmla="val 10000"/>
            </a:avLst>
          </a:prstGeom>
          <a:solidFill>
            <a:srgbClr val="E8F5E0"/>
          </a:solidFill>
          <a:ln/>
        </p:spPr>
      </p:sp>
      <p:sp>
        <p:nvSpPr>
          <p:cNvPr id="24" name="Shape 22"/>
          <p:cNvSpPr/>
          <p:nvPr/>
        </p:nvSpPr>
        <p:spPr>
          <a:xfrm>
            <a:off x="8589963" y="45847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6BA84B"/>
          </a:solidFill>
          <a:ln/>
        </p:spPr>
      </p:sp>
      <p:sp>
        <p:nvSpPr>
          <p:cNvPr id="25" name="Text 23"/>
          <p:cNvSpPr/>
          <p:nvPr/>
        </p:nvSpPr>
        <p:spPr>
          <a:xfrm>
            <a:off x="8953500" y="46101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SQL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Carefully designed JOIN statements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5511800"/>
            <a:ext cx="7112000" cy="1016000"/>
          </a:xfrm>
          <a:prstGeom prst="roundRect">
            <a:avLst>
              <a:gd name="adj" fmla="val 10000"/>
            </a:avLst>
          </a:prstGeom>
          <a:solidFill>
            <a:srgbClr val="FDE8EF"/>
          </a:solidFill>
          <a:ln/>
        </p:spPr>
      </p:sp>
      <p:sp>
        <p:nvSpPr>
          <p:cNvPr id="27" name="Shape 25"/>
          <p:cNvSpPr/>
          <p:nvPr/>
        </p:nvSpPr>
        <p:spPr>
          <a:xfrm>
            <a:off x="952500" y="576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39700" y="74216"/>
                </a:moveTo>
                <a:cubicBezTo>
                  <a:pt x="146958" y="74216"/>
                  <a:pt x="152797" y="80055"/>
                  <a:pt x="152797" y="87313"/>
                </a:cubicBezTo>
                <a:lnTo>
                  <a:pt x="152797" y="148431"/>
                </a:lnTo>
                <a:cubicBezTo>
                  <a:pt x="152797" y="155689"/>
                  <a:pt x="146958" y="161528"/>
                  <a:pt x="139700" y="161528"/>
                </a:cubicBezTo>
                <a:cubicBezTo>
                  <a:pt x="132442" y="161528"/>
                  <a:pt x="126603" y="155689"/>
                  <a:pt x="126603" y="148431"/>
                </a:cubicBezTo>
                <a:lnTo>
                  <a:pt x="126603" y="87313"/>
                </a:lnTo>
                <a:cubicBezTo>
                  <a:pt x="126603" y="80055"/>
                  <a:pt x="132442" y="74216"/>
                  <a:pt x="139700" y="74216"/>
                </a:cubicBezTo>
                <a:close/>
                <a:moveTo>
                  <a:pt x="125130" y="192088"/>
                </a:moveTo>
                <a:cubicBezTo>
                  <a:pt x="124798" y="186679"/>
                  <a:pt x="127495" y="181534"/>
                  <a:pt x="132132" y="178729"/>
                </a:cubicBezTo>
                <a:cubicBezTo>
                  <a:pt x="136768" y="175925"/>
                  <a:pt x="142577" y="175925"/>
                  <a:pt x="147214" y="178729"/>
                </a:cubicBezTo>
                <a:cubicBezTo>
                  <a:pt x="151850" y="181534"/>
                  <a:pt x="154547" y="186679"/>
                  <a:pt x="154216" y="192087"/>
                </a:cubicBezTo>
                <a:cubicBezTo>
                  <a:pt x="154547" y="197496"/>
                  <a:pt x="151850" y="202641"/>
                  <a:pt x="147214" y="205446"/>
                </a:cubicBezTo>
                <a:cubicBezTo>
                  <a:pt x="142577" y="208250"/>
                  <a:pt x="136768" y="208250"/>
                  <a:pt x="132132" y="205446"/>
                </a:cubicBezTo>
                <a:cubicBezTo>
                  <a:pt x="127495" y="202641"/>
                  <a:pt x="124798" y="197496"/>
                  <a:pt x="125130" y="192088"/>
                </a:cubicBezTo>
                <a:close/>
              </a:path>
            </a:pathLst>
          </a:custGeom>
          <a:solidFill>
            <a:srgbClr val="E87A9A"/>
          </a:solidFill>
          <a:ln/>
        </p:spPr>
      </p:sp>
      <p:sp>
        <p:nvSpPr>
          <p:cNvPr id="28" name="Text 26"/>
          <p:cNvSpPr/>
          <p:nvPr/>
        </p:nvSpPr>
        <p:spPr>
          <a:xfrm>
            <a:off x="1333500" y="57912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Validation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Consistent validation across all dialog forms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82000" y="5511800"/>
            <a:ext cx="7112000" cy="1016000"/>
          </a:xfrm>
          <a:prstGeom prst="roundRect">
            <a:avLst>
              <a:gd name="adj" fmla="val 10000"/>
            </a:avLst>
          </a:prstGeom>
          <a:solidFill>
            <a:srgbClr val="E8F5E0"/>
          </a:solidFill>
          <a:ln/>
        </p:spPr>
      </p:sp>
      <p:sp>
        <p:nvSpPr>
          <p:cNvPr id="30" name="Shape 28"/>
          <p:cNvSpPr/>
          <p:nvPr/>
        </p:nvSpPr>
        <p:spPr>
          <a:xfrm>
            <a:off x="8589963" y="57658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6BA84B"/>
          </a:solidFill>
          <a:ln/>
        </p:spPr>
      </p:sp>
      <p:sp>
        <p:nvSpPr>
          <p:cNvPr id="31" name="Text 29"/>
          <p:cNvSpPr/>
          <p:nvPr/>
        </p:nvSpPr>
        <p:spPr>
          <a:xfrm>
            <a:off x="8953500" y="57912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Regex Patterns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Validating names, email, and numeric ranges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6692900"/>
            <a:ext cx="7112000" cy="1016000"/>
          </a:xfrm>
          <a:prstGeom prst="roundRect">
            <a:avLst>
              <a:gd name="adj" fmla="val 10000"/>
            </a:avLst>
          </a:prstGeom>
          <a:solidFill>
            <a:srgbClr val="FDE8EF"/>
          </a:solidFill>
          <a:ln/>
        </p:spPr>
      </p:sp>
      <p:sp>
        <p:nvSpPr>
          <p:cNvPr id="33" name="Shape 31"/>
          <p:cNvSpPr/>
          <p:nvPr/>
        </p:nvSpPr>
        <p:spPr>
          <a:xfrm>
            <a:off x="952500" y="69469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39700" y="74216"/>
                </a:moveTo>
                <a:cubicBezTo>
                  <a:pt x="146958" y="74216"/>
                  <a:pt x="152797" y="80055"/>
                  <a:pt x="152797" y="87313"/>
                </a:cubicBezTo>
                <a:lnTo>
                  <a:pt x="152797" y="148431"/>
                </a:lnTo>
                <a:cubicBezTo>
                  <a:pt x="152797" y="155689"/>
                  <a:pt x="146958" y="161528"/>
                  <a:pt x="139700" y="161528"/>
                </a:cubicBezTo>
                <a:cubicBezTo>
                  <a:pt x="132442" y="161528"/>
                  <a:pt x="126603" y="155689"/>
                  <a:pt x="126603" y="148431"/>
                </a:cubicBezTo>
                <a:lnTo>
                  <a:pt x="126603" y="87313"/>
                </a:lnTo>
                <a:cubicBezTo>
                  <a:pt x="126603" y="80055"/>
                  <a:pt x="132442" y="74216"/>
                  <a:pt x="139700" y="74216"/>
                </a:cubicBezTo>
                <a:close/>
                <a:moveTo>
                  <a:pt x="125130" y="192088"/>
                </a:moveTo>
                <a:cubicBezTo>
                  <a:pt x="124798" y="186679"/>
                  <a:pt x="127495" y="181534"/>
                  <a:pt x="132132" y="178729"/>
                </a:cubicBezTo>
                <a:cubicBezTo>
                  <a:pt x="136768" y="175925"/>
                  <a:pt x="142577" y="175925"/>
                  <a:pt x="147214" y="178729"/>
                </a:cubicBezTo>
                <a:cubicBezTo>
                  <a:pt x="151850" y="181534"/>
                  <a:pt x="154547" y="186679"/>
                  <a:pt x="154216" y="192087"/>
                </a:cubicBezTo>
                <a:cubicBezTo>
                  <a:pt x="154547" y="197496"/>
                  <a:pt x="151850" y="202641"/>
                  <a:pt x="147214" y="205446"/>
                </a:cubicBezTo>
                <a:cubicBezTo>
                  <a:pt x="142577" y="208250"/>
                  <a:pt x="136768" y="208250"/>
                  <a:pt x="132132" y="205446"/>
                </a:cubicBezTo>
                <a:cubicBezTo>
                  <a:pt x="127495" y="202641"/>
                  <a:pt x="124798" y="197496"/>
                  <a:pt x="125130" y="192088"/>
                </a:cubicBezTo>
                <a:close/>
              </a:path>
            </a:pathLst>
          </a:custGeom>
          <a:solidFill>
            <a:srgbClr val="E87A9A"/>
          </a:solidFill>
          <a:ln/>
        </p:spPr>
      </p:sp>
      <p:sp>
        <p:nvSpPr>
          <p:cNvPr id="34" name="Text 32"/>
          <p:cNvSpPr/>
          <p:nvPr/>
        </p:nvSpPr>
        <p:spPr>
          <a:xfrm>
            <a:off x="1333500" y="69723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 Management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Preventing database connection leaks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82000" y="6692900"/>
            <a:ext cx="7112000" cy="1016000"/>
          </a:xfrm>
          <a:prstGeom prst="roundRect">
            <a:avLst>
              <a:gd name="adj" fmla="val 10000"/>
            </a:avLst>
          </a:prstGeom>
          <a:solidFill>
            <a:srgbClr val="E8F5E0"/>
          </a:solidFill>
          <a:ln/>
        </p:spPr>
      </p:sp>
      <p:sp>
        <p:nvSpPr>
          <p:cNvPr id="36" name="Shape 34"/>
          <p:cNvSpPr/>
          <p:nvPr/>
        </p:nvSpPr>
        <p:spPr>
          <a:xfrm>
            <a:off x="8589963" y="69469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37272" y="38254"/>
                </a:moveTo>
                <a:cubicBezTo>
                  <a:pt x="245075" y="43929"/>
                  <a:pt x="246822" y="54843"/>
                  <a:pt x="241146" y="62647"/>
                </a:cubicBezTo>
                <a:lnTo>
                  <a:pt x="101446" y="254734"/>
                </a:lnTo>
                <a:cubicBezTo>
                  <a:pt x="98445" y="258882"/>
                  <a:pt x="93806" y="261446"/>
                  <a:pt x="88677" y="261883"/>
                </a:cubicBezTo>
                <a:cubicBezTo>
                  <a:pt x="83547" y="262319"/>
                  <a:pt x="78581" y="260410"/>
                  <a:pt x="74980" y="256808"/>
                </a:cubicBezTo>
                <a:lnTo>
                  <a:pt x="5130" y="186958"/>
                </a:lnTo>
                <a:cubicBezTo>
                  <a:pt x="-1692" y="180137"/>
                  <a:pt x="-1692" y="169059"/>
                  <a:pt x="5130" y="162238"/>
                </a:cubicBezTo>
                <a:cubicBezTo>
                  <a:pt x="11951" y="155416"/>
                  <a:pt x="23029" y="155416"/>
                  <a:pt x="29850" y="162238"/>
                </a:cubicBezTo>
                <a:lnTo>
                  <a:pt x="85239" y="217626"/>
                </a:lnTo>
                <a:lnTo>
                  <a:pt x="212933" y="42074"/>
                </a:lnTo>
                <a:cubicBezTo>
                  <a:pt x="218609" y="34270"/>
                  <a:pt x="229523" y="32524"/>
                  <a:pt x="237326" y="38199"/>
                </a:cubicBezTo>
                <a:close/>
              </a:path>
            </a:pathLst>
          </a:custGeom>
          <a:solidFill>
            <a:srgbClr val="6BA84B"/>
          </a:solidFill>
          <a:ln/>
        </p:spPr>
      </p:sp>
      <p:sp>
        <p:nvSpPr>
          <p:cNvPr id="37" name="Text 35"/>
          <p:cNvSpPr/>
          <p:nvPr/>
        </p:nvSpPr>
        <p:spPr>
          <a:xfrm>
            <a:off x="8953500" y="69723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Try-with-resources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Automatic resource cleanup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2000" y="8001000"/>
            <a:ext cx="14732000" cy="635000"/>
          </a:xfrm>
          <a:prstGeom prst="roundRect">
            <a:avLst>
              <a:gd name="adj" fmla="val 8000"/>
            </a:avLst>
          </a:prstGeom>
          <a:solidFill>
            <a:srgbClr val="6BA84B"/>
          </a:solidFill>
          <a:ln/>
        </p:spPr>
      </p:sp>
      <p:sp>
        <p:nvSpPr>
          <p:cNvPr id="39" name="Text 37"/>
          <p:cNvSpPr/>
          <p:nvPr/>
        </p:nvSpPr>
        <p:spPr>
          <a:xfrm>
            <a:off x="1016000" y="8001000"/>
            <a:ext cx="142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Robust, reliable, and well-structured application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-1016000" y="-762000"/>
            <a:ext cx="1651000" cy="1397000"/>
          </a:xfrm>
          <a:prstGeom prst="ellipse">
            <a:avLst/>
          </a:prstGeom>
          <a:solidFill>
            <a:srgbClr val="6BA84B"/>
          </a:solidFill>
          <a:ln/>
        </p:spPr>
      </p:sp>
      <p:sp>
        <p:nvSpPr>
          <p:cNvPr id="3" name="Shape 1"/>
          <p:cNvSpPr/>
          <p:nvPr/>
        </p:nvSpPr>
        <p:spPr>
          <a:xfrm rot="1500000">
            <a:off x="15748000" y="8382000"/>
            <a:ext cx="1270000" cy="1270000"/>
          </a:xfrm>
          <a:prstGeom prst="ellipse">
            <a:avLst/>
          </a:prstGeom>
          <a:solidFill>
            <a:srgbClr val="E87A9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100" kern="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244600"/>
            <a:ext cx="1270000" cy="0"/>
          </a:xfrm>
          <a:prstGeom prst="straightConnector1">
            <a:avLst/>
          </a:prstGeom>
          <a:noFill/>
          <a:ln w="38100">
            <a:solidFill>
              <a:srgbClr val="E87A9A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524000"/>
            <a:ext cx="14732000" cy="1270000"/>
          </a:xfrm>
          <a:prstGeom prst="roundRect">
            <a:avLst>
              <a:gd name="adj" fmla="val 8000"/>
            </a:avLst>
          </a:prstGeom>
          <a:solidFill>
            <a:srgbClr val="E8F5E0"/>
          </a:solidFill>
          <a:ln/>
        </p:spPr>
      </p:sp>
      <p:sp>
        <p:nvSpPr>
          <p:cNvPr id="7" name="Shape 5"/>
          <p:cNvSpPr/>
          <p:nvPr/>
        </p:nvSpPr>
        <p:spPr>
          <a:xfrm>
            <a:off x="1060450" y="18796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16277" y="22225"/>
                </a:moveTo>
                <a:lnTo>
                  <a:pt x="222250" y="22225"/>
                </a:lnTo>
                <a:cubicBezTo>
                  <a:pt x="246767" y="22225"/>
                  <a:pt x="266700" y="42158"/>
                  <a:pt x="266700" y="666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66675"/>
                </a:lnTo>
                <a:cubicBezTo>
                  <a:pt x="0" y="42158"/>
                  <a:pt x="19933" y="22225"/>
                  <a:pt x="44450" y="22225"/>
                </a:cubicBezTo>
                <a:lnTo>
                  <a:pt x="50423" y="22225"/>
                </a:lnTo>
                <a:cubicBezTo>
                  <a:pt x="58063" y="8959"/>
                  <a:pt x="72440" y="0"/>
                  <a:pt x="88900" y="0"/>
                </a:cubicBezTo>
                <a:lnTo>
                  <a:pt x="177800" y="0"/>
                </a:lnTo>
                <a:cubicBezTo>
                  <a:pt x="194260" y="0"/>
                  <a:pt x="208637" y="8959"/>
                  <a:pt x="216277" y="22225"/>
                </a:cubicBezTo>
                <a:close/>
                <a:moveTo>
                  <a:pt x="172244" y="77788"/>
                </a:moveTo>
                <a:cubicBezTo>
                  <a:pt x="181481" y="77788"/>
                  <a:pt x="188913" y="70356"/>
                  <a:pt x="188913" y="61119"/>
                </a:cubicBezTo>
                <a:cubicBezTo>
                  <a:pt x="188913" y="51881"/>
                  <a:pt x="181481" y="44450"/>
                  <a:pt x="172244" y="44450"/>
                </a:cubicBezTo>
                <a:lnTo>
                  <a:pt x="94456" y="44450"/>
                </a:lnTo>
                <a:cubicBezTo>
                  <a:pt x="85219" y="44450"/>
                  <a:pt x="77788" y="51881"/>
                  <a:pt x="77788" y="61119"/>
                </a:cubicBezTo>
                <a:cubicBezTo>
                  <a:pt x="77788" y="70356"/>
                  <a:pt x="85219" y="77788"/>
                  <a:pt x="94456" y="77788"/>
                </a:cubicBezTo>
                <a:lnTo>
                  <a:pt x="172244" y="77788"/>
                </a:lnTo>
                <a:close/>
                <a:moveTo>
                  <a:pt x="191968" y="181064"/>
                </a:moveTo>
                <a:cubicBezTo>
                  <a:pt x="196830" y="173286"/>
                  <a:pt x="194469" y="163006"/>
                  <a:pt x="186690" y="158075"/>
                </a:cubicBezTo>
                <a:cubicBezTo>
                  <a:pt x="178911" y="153144"/>
                  <a:pt x="168632" y="155575"/>
                  <a:pt x="163701" y="163354"/>
                </a:cubicBezTo>
                <a:lnTo>
                  <a:pt x="121057" y="231626"/>
                </a:lnTo>
                <a:lnTo>
                  <a:pt x="102304" y="206623"/>
                </a:lnTo>
                <a:cubicBezTo>
                  <a:pt x="96748" y="199261"/>
                  <a:pt x="86330" y="197733"/>
                  <a:pt x="78968" y="203289"/>
                </a:cubicBezTo>
                <a:cubicBezTo>
                  <a:pt x="71606" y="208846"/>
                  <a:pt x="70078" y="219264"/>
                  <a:pt x="75634" y="226626"/>
                </a:cubicBezTo>
                <a:lnTo>
                  <a:pt x="108972" y="271076"/>
                </a:lnTo>
                <a:cubicBezTo>
                  <a:pt x="112236" y="275451"/>
                  <a:pt x="117515" y="277951"/>
                  <a:pt x="123001" y="277743"/>
                </a:cubicBezTo>
                <a:cubicBezTo>
                  <a:pt x="128488" y="277535"/>
                  <a:pt x="133489" y="274618"/>
                  <a:pt x="136406" y="269895"/>
                </a:cubicBezTo>
                <a:lnTo>
                  <a:pt x="191968" y="180995"/>
                </a:lnTo>
                <a:close/>
              </a:path>
            </a:pathLst>
          </a:custGeom>
          <a:solidFill>
            <a:srgbClr val="6BA84B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16510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project demonstrates a complete Java application combining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OOP, database integration, and GUI design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The system successfully implements all required functionality with clean code architecture.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3048000"/>
            <a:ext cx="7112000" cy="3937000"/>
          </a:xfrm>
          <a:prstGeom prst="roundRect">
            <a:avLst>
              <a:gd name="adj" fmla="val 10000"/>
            </a:avLst>
          </a:prstGeom>
          <a:solidFill>
            <a:srgbClr val="FDE8EF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2004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87A9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Key Learnings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7465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6BA8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 Programming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Core language features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16000" y="43815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6BA8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OOP Principles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Encapsulation, inheritance, polymorphism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16000" y="50165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6BA8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GUI Development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Building interfaces with Java Swing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16000" y="56515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6BA8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Database Integration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JDBC with SQLite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16000" y="62865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6BA8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Security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Password hashing and role-based access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3048000"/>
            <a:ext cx="7112000" cy="3810000"/>
          </a:xfrm>
          <a:prstGeom prst="roundRect">
            <a:avLst>
              <a:gd name="adj" fmla="val 10000"/>
            </a:avLst>
          </a:prstGeom>
          <a:solidFill>
            <a:srgbClr val="E8F5E0"/>
          </a:solidFill>
          <a:ln/>
        </p:spPr>
      </p:sp>
      <p:sp>
        <p:nvSpPr>
          <p:cNvPr id="17" name="Text 15"/>
          <p:cNvSpPr/>
          <p:nvPr/>
        </p:nvSpPr>
        <p:spPr>
          <a:xfrm>
            <a:off x="8636000" y="32004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BA84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Requirements Met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36000" y="38100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6BA8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All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basic requirements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completed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36000" y="47625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6BA8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All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 bonus assignments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completed (GUI, Database, Auth)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36000" y="57150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6BA8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Import/Export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functionality implemented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7175500"/>
            <a:ext cx="14732000" cy="889000"/>
          </a:xfrm>
          <a:prstGeom prst="roundRect">
            <a:avLst>
              <a:gd name="adj" fmla="val 8000"/>
            </a:avLst>
          </a:prstGeom>
          <a:solidFill>
            <a:srgbClr val="6BA84B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7175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successful demonstration of software development skills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-1016000" y="-762000"/>
            <a:ext cx="4318000" cy="3556000"/>
          </a:xfrm>
          <a:prstGeom prst="ellipse">
            <a:avLst/>
          </a:prstGeom>
          <a:solidFill>
            <a:srgbClr val="6BA84B"/>
          </a:solidFill>
          <a:ln/>
        </p:spPr>
      </p:sp>
      <p:sp>
        <p:nvSpPr>
          <p:cNvPr id="3" name="Shape 1"/>
          <p:cNvSpPr/>
          <p:nvPr/>
        </p:nvSpPr>
        <p:spPr>
          <a:xfrm rot="-900000">
            <a:off x="12954000" y="6604000"/>
            <a:ext cx="4318000" cy="3556000"/>
          </a:xfrm>
          <a:prstGeom prst="ellipse">
            <a:avLst/>
          </a:prstGeom>
          <a:solidFill>
            <a:srgbClr val="6BA84B"/>
          </a:solidFill>
          <a:ln/>
        </p:spPr>
      </p:sp>
      <p:sp>
        <p:nvSpPr>
          <p:cNvPr id="4" name="Shape 2"/>
          <p:cNvSpPr/>
          <p:nvPr/>
        </p:nvSpPr>
        <p:spPr>
          <a:xfrm rot="1500000">
            <a:off x="13462000" y="-508000"/>
            <a:ext cx="3810000" cy="3048000"/>
          </a:xfrm>
          <a:prstGeom prst="ellipse">
            <a:avLst/>
          </a:prstGeom>
          <a:solidFill>
            <a:srgbClr val="E87A9A"/>
          </a:solidFill>
          <a:ln/>
        </p:spPr>
      </p:sp>
      <p:sp>
        <p:nvSpPr>
          <p:cNvPr id="5" name="Shape 3"/>
          <p:cNvSpPr/>
          <p:nvPr/>
        </p:nvSpPr>
        <p:spPr>
          <a:xfrm rot="1500000">
            <a:off x="-762000" y="6858000"/>
            <a:ext cx="3810000" cy="3048000"/>
          </a:xfrm>
          <a:prstGeom prst="ellipse">
            <a:avLst/>
          </a:prstGeom>
          <a:solidFill>
            <a:srgbClr val="E9799A"/>
          </a:solidFill>
          <a:ln/>
        </p:spPr>
      </p:sp>
      <p:sp>
        <p:nvSpPr>
          <p:cNvPr id="6" name="Shape 4"/>
          <p:cNvSpPr/>
          <p:nvPr/>
        </p:nvSpPr>
        <p:spPr>
          <a:xfrm>
            <a:off x="12446000" y="1016000"/>
            <a:ext cx="304800" cy="3048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4D06F"/>
          </a:solidFill>
          <a:ln/>
        </p:spPr>
      </p:sp>
      <p:sp>
        <p:nvSpPr>
          <p:cNvPr id="7" name="Shape 5"/>
          <p:cNvSpPr/>
          <p:nvPr/>
        </p:nvSpPr>
        <p:spPr>
          <a:xfrm>
            <a:off x="12954000" y="1524000"/>
            <a:ext cx="203200" cy="2032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E87A9A"/>
          </a:solidFill>
          <a:ln/>
        </p:spPr>
      </p:sp>
      <p:sp>
        <p:nvSpPr>
          <p:cNvPr id="8" name="Shape 6"/>
          <p:cNvSpPr/>
          <p:nvPr/>
        </p:nvSpPr>
        <p:spPr>
          <a:xfrm>
            <a:off x="3048000" y="7366000"/>
            <a:ext cx="254000" cy="2540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4D06F"/>
          </a:solidFill>
          <a:ln/>
        </p:spPr>
      </p:sp>
      <p:sp>
        <p:nvSpPr>
          <p:cNvPr id="9" name="Shape 7"/>
          <p:cNvSpPr/>
          <p:nvPr/>
        </p:nvSpPr>
        <p:spPr>
          <a:xfrm>
            <a:off x="3556000" y="7874000"/>
            <a:ext cx="177800" cy="1778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E87A9A"/>
          </a:solidFill>
          <a:ln/>
        </p:spPr>
      </p:sp>
      <p:sp>
        <p:nvSpPr>
          <p:cNvPr id="10" name="Shape 8"/>
          <p:cNvSpPr/>
          <p:nvPr/>
        </p:nvSpPr>
        <p:spPr>
          <a:xfrm>
            <a:off x="5531056" y="4702372"/>
            <a:ext cx="5193888" cy="623761"/>
          </a:xfrm>
          <a:prstGeom prst="roundRect">
            <a:avLst>
              <a:gd name="adj" fmla="val 12000"/>
            </a:avLst>
          </a:prstGeom>
          <a:solidFill>
            <a:srgbClr val="6BA84B"/>
          </a:solidFill>
          <a:ln/>
        </p:spPr>
      </p:sp>
      <p:sp>
        <p:nvSpPr>
          <p:cNvPr id="11" name="Text 9"/>
          <p:cNvSpPr/>
          <p:nvPr/>
        </p:nvSpPr>
        <p:spPr>
          <a:xfrm>
            <a:off x="5202130" y="4702372"/>
            <a:ext cx="5851740" cy="623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made by Aigerim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899" y="7014596"/>
            <a:ext cx="2997050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rot="1686612">
            <a:off x="10323971" y="4177366"/>
            <a:ext cx="1071563" cy="952500"/>
          </a:xfrm>
          <a:custGeom>
            <a:avLst/>
            <a:gdLst/>
            <a:ahLst/>
            <a:cxnLst/>
            <a:rect l="l" t="t" r="r" b="b"/>
            <a:pathLst>
              <a:path w="1071563" h="952500">
                <a:moveTo>
                  <a:pt x="575779" y="-35161"/>
                </a:moveTo>
                <a:cubicBezTo>
                  <a:pt x="568151" y="-50043"/>
                  <a:pt x="552710" y="-59531"/>
                  <a:pt x="535967" y="-59531"/>
                </a:cubicBezTo>
                <a:cubicBezTo>
                  <a:pt x="519224" y="-59531"/>
                  <a:pt x="503783" y="-50043"/>
                  <a:pt x="496156" y="-35161"/>
                </a:cubicBezTo>
                <a:lnTo>
                  <a:pt x="359234" y="233102"/>
                </a:lnTo>
                <a:lnTo>
                  <a:pt x="61764" y="280355"/>
                </a:lnTo>
                <a:cubicBezTo>
                  <a:pt x="45207" y="282959"/>
                  <a:pt x="31440" y="294680"/>
                  <a:pt x="26231" y="310679"/>
                </a:cubicBezTo>
                <a:cubicBezTo>
                  <a:pt x="21022" y="326678"/>
                  <a:pt x="25301" y="344165"/>
                  <a:pt x="37021" y="356071"/>
                </a:cubicBezTo>
                <a:lnTo>
                  <a:pt x="249845" y="569082"/>
                </a:lnTo>
                <a:lnTo>
                  <a:pt x="202964" y="866552"/>
                </a:lnTo>
                <a:cubicBezTo>
                  <a:pt x="200360" y="883109"/>
                  <a:pt x="207243" y="899852"/>
                  <a:pt x="220824" y="909712"/>
                </a:cubicBezTo>
                <a:cubicBezTo>
                  <a:pt x="234404" y="919572"/>
                  <a:pt x="252264" y="921060"/>
                  <a:pt x="267333" y="913433"/>
                </a:cubicBezTo>
                <a:lnTo>
                  <a:pt x="535967" y="776883"/>
                </a:lnTo>
                <a:lnTo>
                  <a:pt x="804416" y="913433"/>
                </a:lnTo>
                <a:cubicBezTo>
                  <a:pt x="819299" y="921060"/>
                  <a:pt x="837344" y="919572"/>
                  <a:pt x="850925" y="909712"/>
                </a:cubicBezTo>
                <a:cubicBezTo>
                  <a:pt x="864505" y="899852"/>
                  <a:pt x="871389" y="883295"/>
                  <a:pt x="868784" y="866552"/>
                </a:cubicBezTo>
                <a:lnTo>
                  <a:pt x="821717" y="569082"/>
                </a:lnTo>
                <a:lnTo>
                  <a:pt x="1034542" y="356071"/>
                </a:lnTo>
                <a:cubicBezTo>
                  <a:pt x="1046448" y="344165"/>
                  <a:pt x="1050541" y="326678"/>
                  <a:pt x="1045332" y="310679"/>
                </a:cubicBezTo>
                <a:cubicBezTo>
                  <a:pt x="1040123" y="294680"/>
                  <a:pt x="1026542" y="282959"/>
                  <a:pt x="1009799" y="280355"/>
                </a:cubicBezTo>
                <a:lnTo>
                  <a:pt x="712515" y="233102"/>
                </a:lnTo>
                <a:lnTo>
                  <a:pt x="575779" y="-35161"/>
                </a:lnTo>
                <a:close/>
              </a:path>
            </a:pathLst>
          </a:custGeom>
          <a:solidFill>
            <a:srgbClr val="FFC12A">
              <a:alpha val="71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820773" y="2291473"/>
            <a:ext cx="8818253" cy="2001468"/>
          </a:xfrm>
          <a:custGeom>
            <a:avLst/>
            <a:gdLst/>
            <a:ahLst/>
            <a:cxnLst/>
            <a:rect l="l" t="t" r="r" b="b"/>
            <a:pathLst>
              <a:path w="8818253" h="2001468">
                <a:moveTo>
                  <a:pt x="0" y="1000734"/>
                </a:moveTo>
                <a:cubicBezTo>
                  <a:pt x="0" y="448414"/>
                  <a:pt x="1975663" y="0"/>
                  <a:pt x="4409126" y="0"/>
                </a:cubicBezTo>
                <a:cubicBezTo>
                  <a:pt x="6842589" y="0"/>
                  <a:pt x="8818253" y="448414"/>
                  <a:pt x="8818253" y="1000734"/>
                </a:cubicBezTo>
                <a:cubicBezTo>
                  <a:pt x="8818253" y="1553054"/>
                  <a:pt x="6842589" y="2001468"/>
                  <a:pt x="4409126" y="2001468"/>
                </a:cubicBezTo>
                <a:cubicBezTo>
                  <a:pt x="1975663" y="2001468"/>
                  <a:pt x="0" y="1553054"/>
                  <a:pt x="0" y="1000734"/>
                </a:cubicBezTo>
                <a:close/>
              </a:path>
            </a:pathLst>
          </a:custGeom>
          <a:solidFill>
            <a:srgbClr val="88C066">
              <a:alpha val="3712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-1536043">
            <a:off x="4770830" y="4862139"/>
            <a:ext cx="1102353" cy="1057397"/>
          </a:xfrm>
          <a:custGeom>
            <a:avLst/>
            <a:gdLst/>
            <a:ahLst/>
            <a:cxnLst/>
            <a:rect l="l" t="t" r="r" b="b"/>
            <a:pathLst>
              <a:path w="1102353" h="1057397">
                <a:moveTo>
                  <a:pt x="518881" y="179881"/>
                </a:moveTo>
                <a:lnTo>
                  <a:pt x="551176" y="222632"/>
                </a:lnTo>
                <a:lnTo>
                  <a:pt x="583472" y="179881"/>
                </a:lnTo>
                <a:cubicBezTo>
                  <a:pt x="637298" y="108424"/>
                  <a:pt x="723849" y="66087"/>
                  <a:pt x="815784" y="66087"/>
                </a:cubicBezTo>
                <a:cubicBezTo>
                  <a:pt x="974032" y="66087"/>
                  <a:pt x="1102353" y="189175"/>
                  <a:pt x="1102353" y="340969"/>
                </a:cubicBezTo>
                <a:lnTo>
                  <a:pt x="1102353" y="346339"/>
                </a:lnTo>
                <a:cubicBezTo>
                  <a:pt x="1102353" y="578057"/>
                  <a:pt x="801143" y="847157"/>
                  <a:pt x="643972" y="962190"/>
                </a:cubicBezTo>
                <a:cubicBezTo>
                  <a:pt x="617274" y="981603"/>
                  <a:pt x="584548" y="991309"/>
                  <a:pt x="551176" y="991309"/>
                </a:cubicBezTo>
                <a:cubicBezTo>
                  <a:pt x="517804" y="991309"/>
                  <a:pt x="484863" y="981809"/>
                  <a:pt x="458381" y="962190"/>
                </a:cubicBezTo>
                <a:cubicBezTo>
                  <a:pt x="301209" y="847157"/>
                  <a:pt x="0" y="578057"/>
                  <a:pt x="0" y="346339"/>
                </a:cubicBezTo>
                <a:lnTo>
                  <a:pt x="0" y="340969"/>
                </a:lnTo>
                <a:cubicBezTo>
                  <a:pt x="0" y="189175"/>
                  <a:pt x="128321" y="66087"/>
                  <a:pt x="286569" y="66087"/>
                </a:cubicBezTo>
                <a:cubicBezTo>
                  <a:pt x="378503" y="66087"/>
                  <a:pt x="465055" y="108424"/>
                  <a:pt x="518881" y="179881"/>
                </a:cubicBezTo>
                <a:close/>
              </a:path>
            </a:pathLst>
          </a:custGeom>
          <a:solidFill>
            <a:srgbClr val="FF3B75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317251" y="2485625"/>
            <a:ext cx="7621499" cy="1613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spc="300" kern="0" dirty="0">
                <a:solidFill>
                  <a:srgbClr val="FF5789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THANK YOU 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93970" y="3942619"/>
            <a:ext cx="2997050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Enrollment System</dc:title>
  <dc:subject>Course Enrollment System</dc:subject>
  <dc:creator>Kimi</dc:creator>
  <cp:lastModifiedBy>Kimi</cp:lastModifiedBy>
  <cp:revision>1</cp:revision>
  <dcterms:created xsi:type="dcterms:W3CDTF">2026-04-18T14:49:07Z</dcterms:created>
  <dcterms:modified xsi:type="dcterms:W3CDTF">2026-04-18T14:49:07Z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{"Label":"Course Enrollment System","ContentProducer":"001191110108MACG2KBH8F10000","ProduceID":"19db56ee-5a32-8bee-8000-0000d4d0628d","ReservedCode1":"","ContentPropagator":"001191110108MACG2KBH8F20000","PropagateID":"19db56ee-5a32-8bee-8000-0000d4d0628d","ReservedCode2":""}</vt:lpwstr>
  </property>
</Properties>
</file>